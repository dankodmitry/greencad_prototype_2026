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Демонстрационный фрагмент пользовательского скриншота с результатом. Полный экран показан на слайде 10. Прототип проверяет выбранный набор условий, а не даёт полное нормативное заключение.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Ожидаемая ценность — уменьшение ручного перебора. Измеренное ускорение труда проектировщика не заявляется. Геометрическая модель плоская; распознавание произвольных DWG не входит в основной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модульная, запуск локальный: Python, Tkinter/ttk, ezdxf, Shapely/GEOS. Это не распределённая микросервисная система. DXF экспортируется на основе исходного документа, не по растровой картинке.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Количество записей не означает, что у каждого растения есть все характеристики. Полные нормативные издания не загружаются в расчёт как исполняемый код. Сборщик поддерживает объявленную схему таблиц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Можно работать без ботанического названия. При назначении вида проверяются его реальные известные требования и соответствие шаблону. Неизвестные размеры в каталоге не подменяются резервом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PASS, FAIL, UNKNOWN и ERROR различаются. Карта исходной территории не учитывает взаимное размещение новых посадок; это проверяется на уровне плана. Расстояния и геометрия вычисляются, а не восстанавливаются по цветам.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к следующему типу происходит после достижения лимита или исчерпания рассматриваемых позиций. Случайное смещение выполняется до проверки, не после неё. Недостаток данных не считается разрешением. Применение добавляет группу одним действием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Ручные посадки не перемещаются. Тестовые расстояния не ослабляются ради красоты или достижения числа. Сравнение эстетики и оптимизация композиции не проводились.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Значения взяты с предоставленного скриншота. Это демонстрация загрузки подготовленного файла, не подтверждение полноты исходных натурных сведений. Никакие скрытые измерения из чертежа не восстанавливались.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подтверждены только скриншотом пользователя, независимо этот конкретный файл в рамках подготовки презентации не прогонялся. Установленный набор TEST-условий не покрывает все сети и нормативы. Карта фиксирована для T1 и не описывает одновременно все типы.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скриншоте CAD открыт другой фрагмент 01_3ya_Parkovaya…edited.dxf; его нельзя считать независимой проверкой полного коридора со слайда 10. Показано открытие результата, не сертификация совместимости. Экспорт программно перепроверяет заявленную область сохранности исходных сущностей.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Нельзя выдавать тестовый порог за норму СП. Нормативные ориентиры из ТЗ: СП 42.13330.2016, 743-ПП, 623-ПП. Требование о ссылке на конкретный пункт НПА пока не закрыто для тестовых отступов. Источники справочника и нормативные основания имеют разный смысл.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Результаты тестов взяты из ранее подготовленного протокола и документации; при сборке презентации тесты не перезапускались. 91 посадка контрольного прогона и 400 на пользовательском скриншоте — разные эксперименты. Поддержка любых произвольных DWG не заявляется.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Материалы размещаются в prototype/, documentation/, materials/, presentation/. Для первичной установки Windows предусмотрен setup_windows.bat. В Linux зависимости устанавливаются по документации, нужны Python/Tk. Docker не заявлен готовым. Презентация основана на документации 0.6.1, приложенных скриншотах и ТЗ, раздел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C9DDCB"/>
                </a:solidFill>
                <a:latin typeface="DejaVu Sans"/>
              </a:defRPr>
            </a:pPr>
            <a:r>
              <a:t>ЛЦТ 2026  /  «НЕ РАБОТАЕМ С УТКАМИ»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577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5800" b="1">
                <a:solidFill>
                  <a:srgbClr val="FFFFFF"/>
                </a:solidFill>
                <a:latin typeface="DejaVu Sans"/>
              </a:defRPr>
            </a:pPr>
            <a:r>
              <a:t>GreenCAD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560320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0">
                <a:solidFill>
                  <a:srgbClr val="FFFFFF"/>
                </a:solidFill>
                <a:latin typeface="DejaVu Sans"/>
              </a:defRPr>
            </a:pPr>
            <a:r>
              <a:t>От подготовленного DXF</a:t>
            </a:r>
          </a:p>
          <a:p>
            <a:pPr>
              <a:spcAft>
                <a:spcPts val="900"/>
              </a:spcAft>
              <a:defRPr sz="2900" b="0">
                <a:solidFill>
                  <a:srgbClr val="FFFFFF"/>
                </a:solidFill>
                <a:latin typeface="DejaVu Sans"/>
              </a:defRPr>
            </a:pPr>
            <a:r>
              <a:t>к объяснимому</a:t>
            </a:r>
          </a:p>
          <a:p>
            <a:pPr>
              <a:spcAft>
                <a:spcPts val="900"/>
              </a:spcAft>
              <a:defRPr sz="2900" b="0">
                <a:solidFill>
                  <a:srgbClr val="FFFFFF"/>
                </a:solidFill>
                <a:latin typeface="DejaVu Sans"/>
              </a:defRPr>
            </a:pPr>
            <a:r>
              <a:t>плану посадок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1091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C9DDCB"/>
                </a:solidFill>
                <a:latin typeface="DejaVu Sans"/>
              </a:defRPr>
            </a:pPr>
            <a:r>
              <a:t>Расчётные типы · правила · ручная правка</a:t>
            </a:r>
          </a:p>
          <a:p>
            <a:pPr>
              <a:spcAft>
                <a:spcPts val="900"/>
              </a:spcAft>
              <a:defRPr sz="1600" b="0">
                <a:solidFill>
                  <a:srgbClr val="C9DDCB"/>
                </a:solidFill>
                <a:latin typeface="DejaVu Sans"/>
              </a:defRPr>
            </a:pPr>
            <a:r>
              <a:t>Локальный прототип 0.6.1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70432"/>
            <a:ext cx="5532120" cy="4983480"/>
          </a:xfrm>
          <a:prstGeom prst="roundRect">
            <a:avLst/>
          </a:prstGeom>
          <a:solidFill>
            <a:srgbClr val="E3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wnload(2)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078" y="1335024"/>
            <a:ext cx="3448923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ПРОБЛЕМА И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Задача: соединить участок, ограничения и посадки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ТЗ 2026, разделы 1–2; документация GreenCAD, §1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593592" cy="4041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47672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Исходная ситуация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18688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На плане одновременно присутствуют сети, покрытия, здания и зелёные зоны. Для размещения необходима совместная проверка условий.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83080"/>
            <a:ext cx="3593592" cy="4041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47672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5603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Наш подход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218688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Один подготовленный DXF, явная типизация объектов, независимые правила и редактируемые расчётные шаблоны посадок.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593592" cy="4041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47672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560320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Ценность для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218688"/>
            <a:ext cx="3191256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Повторяемый расчёт, причины отказов и возможность проверить вариант до передачи результата обратно в CAD.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СХЕМА ПРОЦЕССА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Один DXF на входе — новый DXF на выходе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§§5–6, 13–15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103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2140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74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697480"/>
            <a:ext cx="1801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3F32"/>
                </a:solidFill>
                <a:latin typeface="DejaVu Sans"/>
              </a:defRPr>
            </a:pPr>
            <a:r>
              <a:t>Приём DXF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337560"/>
            <a:ext cx="18013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Геометрия, метаданные,</a:t>
            </a:r>
          </a:p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классификация слоёв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88036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7457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965960"/>
            <a:ext cx="2103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212140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74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697480"/>
            <a:ext cx="1801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3F32"/>
                </a:solidFill>
                <a:latin typeface="DejaVu Sans"/>
              </a:defRPr>
            </a:pPr>
            <a:r>
              <a:t>Подготовка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337560"/>
            <a:ext cx="18013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Участок, шаблоны,</a:t>
            </a:r>
          </a:p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снимок справочников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88036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7457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965960"/>
            <a:ext cx="2103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212140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74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697480"/>
            <a:ext cx="1801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3F32"/>
                </a:solidFill>
                <a:latin typeface="DejaVu Sans"/>
              </a:defRPr>
            </a:pPr>
            <a:r>
              <a:t>Проверки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3337560"/>
            <a:ext cx="18013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Отдельные условия</a:t>
            </a:r>
          </a:p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и карта допустимости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288036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7457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965960"/>
            <a:ext cx="2103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12140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74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697480"/>
            <a:ext cx="1801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3F32"/>
                </a:solidFill>
                <a:latin typeface="DejaVu Sans"/>
              </a:defRPr>
            </a:pPr>
            <a:r>
              <a:t>Генерация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337560"/>
            <a:ext cx="18013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Пробные позиции,</a:t>
            </a:r>
          </a:p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отбор и общий контроль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288036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7457"/>
                </a:solidFill>
                <a:latin typeface="DejaVu Sans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965960"/>
            <a:ext cx="210312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12140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7457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697480"/>
            <a:ext cx="1801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193F32"/>
                </a:solidFill>
                <a:latin typeface="DejaVu Sans"/>
              </a:defRPr>
            </a:pPr>
            <a:r>
              <a:t>Принятие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3337560"/>
            <a:ext cx="18013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Ручная правка,</a:t>
            </a:r>
          </a:p>
          <a:p>
            <a:pPr>
              <a:spcAft>
                <a:spcPts val="900"/>
              </a:spcAft>
              <a:defRPr sz="1400" b="0">
                <a:solidFill>
                  <a:srgbClr val="243A32"/>
                </a:solidFill>
                <a:latin typeface="DejaVu Sans"/>
              </a:defRPr>
            </a:pPr>
            <a:r>
              <a:t>DXF и отчёты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736592"/>
            <a:ext cx="11247120" cy="1005840"/>
          </a:xfrm>
          <a:prstGeom prst="roundRect">
            <a:avLst/>
          </a:prstGeom>
          <a:solidFill>
            <a:srgbClr val="E3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965192"/>
            <a:ext cx="107899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Подоснова остаётся неизменной. Новые посадки — на отдельных слоях.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Рабочий проект GCP хранит настройки и использованный снимок справочников.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СПРАВОЧНИКИ И СВЯЗИ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Данные прослеживаются до исходной записи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§7; встроенный справочник 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357457"/>
                </a:solidFill>
                <a:latin typeface="DejaVu Sans"/>
              </a:defRPr>
            </a:pPr>
            <a:r>
              <a:t>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записей растений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71907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357457"/>
                </a:solidFill>
                <a:latin typeface="DejaVu Sans"/>
              </a:defRPr>
            </a:pPr>
            <a:r>
              <a:t>2 863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5146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записи характеристик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1907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300" b="1">
                <a:solidFill>
                  <a:srgbClr val="357457"/>
                </a:solidFill>
                <a:latin typeface="DejaVu Sans"/>
              </a:defRPr>
            </a:pPr>
            <a:r>
              <a:t>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146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типов объектов</a:t>
            </a:r>
          </a:p>
        </p:txBody>
      </p:sp>
      <p:pic>
        <p:nvPicPr>
          <p:cNvPr id="14" name="Picture 13" descr="GreenCAD_reference_pl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02" y="3108960"/>
            <a:ext cx="4592834" cy="2926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3236976"/>
            <a:ext cx="3886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Excel / JSON → сборщик → единый пакет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Один снимок используется и таблицей, и расчётом.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Неизвестные значения не заменяются догадками.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РАСЧЁТНЫЕ ШАБЛОНЫ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Сначала проектный тип — затем конкретное растение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§§4, 8; CALCULATION_TEMPLATES.md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05</a:t>
            </a:r>
          </a:p>
        </p:txBody>
      </p:sp>
      <p:pic>
        <p:nvPicPr>
          <p:cNvPr id="8" name="Picture 7" descr="GreenCAD_templates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1" y="1709928"/>
            <a:ext cx="5903796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9560" y="1783080"/>
            <a:ext cx="376732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43A32"/>
                </a:solidFill>
                <a:latin typeface="DejaVu Sans"/>
              </a:defRPr>
            </a:pPr>
            <a:r>
              <a:t>T1 / T2 / T3 / T4 — самостоятельные профили.</a:t>
            </a:r>
          </a:p>
          <a:p>
            <a:pPr>
              <a:spcAft>
                <a:spcPts val="900"/>
              </a:spcAft>
              <a:defRPr sz="19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243A32"/>
                </a:solidFill>
                <a:latin typeface="DejaVu Sans"/>
              </a:defRPr>
            </a:pPr>
            <a:r>
              <a:t>Резерв в плане, требования к грунту, режим корнезащиты и параметры проверок.</a:t>
            </a:r>
          </a:p>
          <a:p>
            <a:pPr>
              <a:spcAft>
                <a:spcPts val="900"/>
              </a:spcAft>
              <a:defRPr sz="19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900" b="0">
                <a:solidFill>
                  <a:srgbClr val="243A32"/>
                </a:solidFill>
                <a:latin typeface="DejaVu Sans"/>
              </a:defRPr>
            </a:pPr>
            <a:r>
              <a:t>Подбор: соответствует / не соответствует / недостаточно данных.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5394960"/>
            <a:ext cx="3858768" cy="630936"/>
          </a:xfrm>
          <a:prstGeom prst="roundRect">
            <a:avLst/>
          </a:prstGeom>
          <a:solidFill>
            <a:srgbClr val="E3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552297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193F32"/>
                </a:solidFill>
                <a:latin typeface="DejaVu Sans"/>
              </a:defRPr>
            </a:pPr>
            <a:r>
              <a:t>Знак на карте ≠ размер растения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МАТЕМАТИЧЕСКАЯ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Карта — визуализация тех же правил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§§9–10; ADMISSIBILITY_MAP.md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82496"/>
            <a:ext cx="11247120" cy="822960"/>
          </a:xfrm>
          <a:prstGeom prst="roundRect">
            <a:avLst/>
          </a:prstGeom>
          <a:solidFill>
            <a:srgbClr val="E3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600" b="1">
                <a:solidFill>
                  <a:srgbClr val="193F32"/>
                </a:solidFill>
                <a:latin typeface="DejaVu Sans"/>
              </a:defRPr>
            </a:pPr>
            <a:r>
              <a:t>D(x, y; T, C) = (d₁(x, y), …, dₘ(x, y))</a:t>
            </a:r>
          </a:p>
        </p:txBody>
      </p:sp>
      <p:pic>
        <p:nvPicPr>
          <p:cNvPr id="10" name="Picture 9" descr="GreenCAD_admissibility_ma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57" y="2697480"/>
            <a:ext cx="5299284" cy="3401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74152" y="2779776"/>
            <a:ext cx="3575304" cy="3136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T — выбранный шаблон.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C — условия участка.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Каждый слой — одно правило. Итог — пересечение обязательных условий.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Цвет клетки относится к её центру. Щелчок проверяет координату заново.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ОСНОВНОЙ 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Генерация: конечный отбор с общей проверкой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§§11–12; generation.py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03504" cy="603504"/>
          </a:xfrm>
          <a:prstGeom prst="roundRect">
            <a:avLst/>
          </a:prstGeom>
          <a:solidFill>
            <a:srgbClr val="35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74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93F32"/>
                </a:solidFill>
                <a:latin typeface="DejaVu Sans"/>
              </a:defRPr>
            </a:pPr>
            <a:r>
              <a:t>Выбор задания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66751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Зона, очерёдность типов, лимиты экземпляров, шаг и номер варианта.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61488"/>
            <a:ext cx="603504" cy="603504"/>
          </a:xfrm>
          <a:prstGeom prst="roundRect">
            <a:avLst/>
          </a:prstGeom>
          <a:solidFill>
            <a:srgbClr val="35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52928"/>
            <a:ext cx="274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61488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93F32"/>
                </a:solidFill>
                <a:latin typeface="DejaVu Sans"/>
              </a:defRPr>
            </a:pPr>
            <a:r>
              <a:t>Пробные координаты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88920"/>
            <a:ext cx="66751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Регулярная сетка или рассредоточенные точки с перемешанным порядком.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85616"/>
            <a:ext cx="603504" cy="603504"/>
          </a:xfrm>
          <a:prstGeom prst="roundRect">
            <a:avLst/>
          </a:prstGeom>
          <a:solidFill>
            <a:srgbClr val="35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274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85616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93F32"/>
                </a:solidFill>
                <a:latin typeface="DejaVu Sans"/>
              </a:defRPr>
            </a:pPr>
            <a:r>
              <a:t>Последовательный отбор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813048"/>
            <a:ext cx="66751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Общие правила участка и расстояния до ручных и новых посадок.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9744"/>
            <a:ext cx="603504" cy="603504"/>
          </a:xfrm>
          <a:prstGeom prst="roundRect">
            <a:avLst/>
          </a:prstGeom>
          <a:solidFill>
            <a:srgbClr val="357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01183"/>
            <a:ext cx="274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9744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193F32"/>
                </a:solidFill>
                <a:latin typeface="DejaVu Sans"/>
              </a:defRPr>
            </a:pPr>
            <a:r>
              <a:t>Финальная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837176"/>
            <a:ext cx="667512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Повторный контроль полного плана. Предпросмотр → явное принятие.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3445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5A7065"/>
                </a:solidFill>
                <a:latin typeface="DejaVu Sans"/>
              </a:defRPr>
            </a:pPr>
            <a:r>
              <a:t>Конечный жадный поиск: воспроизводимость — да; гарантия глобального оптимума — нет.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ВАРИАТИВНОСТЬ БЕЗ ИЗМЕНЕНИЯ ПРАВИЛ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Два способа получить первичную композицию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 GreenCAD, §12; патч 0.6.1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08</a:t>
            </a:r>
          </a:p>
        </p:txBody>
      </p:sp>
      <p:pic>
        <p:nvPicPr>
          <p:cNvPr id="8" name="Picture 7" descr="GreenCAD_natural_layou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17" y="1673352"/>
            <a:ext cx="7666964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6840" y="1847088"/>
            <a:ext cx="26974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Рядами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Последовательный обход сетки.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Свободно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Перемешанные пробы без ровных рядов.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Номер варианта фиксирует случайность.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ПРИМЕР ПОЛЬЗОВАТЕЛЬСКОГО ПРОГОНА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Подготовленный план 3-й Парковой улицы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скриншот пользователя, 02_3ya_Parkovaya_typed_full_corridor.dxf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09</a:t>
            </a:r>
          </a:p>
        </p:txBody>
      </p:sp>
      <p:pic>
        <p:nvPicPr>
          <p:cNvPr id="8" name="Picture 7" descr="download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81" y="1700784"/>
            <a:ext cx="8077668" cy="4553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38944" y="2075688"/>
            <a:ext cx="1920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300" b="1">
                <a:solidFill>
                  <a:srgbClr val="357457"/>
                </a:solidFill>
                <a:latin typeface="DejaVu Sans"/>
              </a:defRPr>
            </a:pPr>
            <a:r>
              <a:t>17 026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8944" y="2788920"/>
            <a:ext cx="1865376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исходных объектов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на экране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8944" y="4050791"/>
            <a:ext cx="1865376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43A32"/>
                </a:solidFill>
                <a:latin typeface="DejaVu Sans"/>
              </a:defRPr>
            </a:pPr>
            <a:r>
              <a:t>Классифицированные сети, здания, бордюры и зона расчёта.</a:t>
            </a:r>
          </a:p>
          <a:p>
            <a:pPr>
              <a:spcAft>
                <a:spcPts val="900"/>
              </a:spcAft>
              <a:defRPr sz="15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243A32"/>
                </a:solidFill>
                <a:latin typeface="DejaVu Sans"/>
              </a:defRPr>
            </a:pPr>
            <a:r>
              <a:t>Посадок пока нет.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РЕЗУЛЬТАТ В ИНТЕРФЕЙСЕ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На плане размещены 400 экземпляров типов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скриншот пользователя; статус относится только к выбранным проверкам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10</a:t>
            </a:r>
          </a:p>
        </p:txBody>
      </p:sp>
      <p:pic>
        <p:nvPicPr>
          <p:cNvPr id="8" name="Picture 7" descr="download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93" y="1728216"/>
            <a:ext cx="7916500" cy="45171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48088" y="199339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4500" b="1">
                <a:solidFill>
                  <a:srgbClr val="357457"/>
                </a:solidFill>
                <a:latin typeface="DejaVu Sans"/>
              </a:defRPr>
            </a:pPr>
            <a:r>
              <a:t>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8088" y="2798064"/>
            <a:ext cx="18562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посадок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на скриншоте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8088" y="3867912"/>
            <a:ext cx="1865376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43A32"/>
                </a:solidFill>
                <a:latin typeface="DejaVu Sans"/>
              </a:defRPr>
            </a:pPr>
            <a:r>
              <a:t>В интерфейсе:</a:t>
            </a:r>
          </a:p>
          <a:p>
            <a:pPr>
              <a:spcAft>
                <a:spcPts val="900"/>
              </a:spcAft>
              <a:defRPr sz="1600" b="0">
                <a:solidFill>
                  <a:srgbClr val="243A32"/>
                </a:solidFill>
                <a:latin typeface="DejaVu Sans"/>
              </a:defRPr>
            </a:pPr>
            <a:r>
              <a:t>400 прошло,</a:t>
            </a:r>
          </a:p>
          <a:p>
            <a:pPr>
              <a:spcAft>
                <a:spcPts val="900"/>
              </a:spcAft>
              <a:defRPr sz="1600" b="0">
                <a:solidFill>
                  <a:srgbClr val="243A32"/>
                </a:solidFill>
                <a:latin typeface="DejaVu Sans"/>
              </a:defRPr>
            </a:pPr>
            <a:r>
              <a:t>0 нарушений.</a:t>
            </a:r>
          </a:p>
          <a:p>
            <a:pPr>
              <a:spcAft>
                <a:spcPts val="900"/>
              </a:spcAft>
              <a:defRPr sz="16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243A32"/>
                </a:solidFill>
                <a:latin typeface="DejaVu Sans"/>
              </a:defRPr>
            </a:pPr>
            <a:r>
              <a:t>Не нормативное заключение.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DXF И ОБЪЯСНЕНИЯ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Результат возвращается в привычный CAD-формат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скриншот пользователя с другим экспортированным фрагментом; документация, §15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11</a:t>
            </a:r>
          </a:p>
        </p:txBody>
      </p:sp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2536"/>
            <a:ext cx="7836408" cy="3904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847088"/>
            <a:ext cx="3090672" cy="3648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Исходный документ сохраняется отдельно.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Новые посадки записываются на выделенные слои.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JSON-отчёт: результат, правило, параметры и источник.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GCP: редактируемый проект.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ПРИМЕР ПРОВЕРКИ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Объясняется не только решение, но и его основание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документация, §9; ТЗ 2026, §2, требование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64792"/>
            <a:ext cx="5449824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9384"/>
            <a:ext cx="50474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ПРИМЕР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42032"/>
            <a:ext cx="504748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Отступ от оси сети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5047488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Измерено 2 м, задан TEST-порог 3 м.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Ответ: нарушение.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В отчёте — роль геометрии, ID объекта, фактическое и требуемое значения.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64792"/>
            <a:ext cx="553212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929384"/>
            <a:ext cx="51297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ПРИМЕР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512978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Требование дренированности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200400"/>
            <a:ext cx="5129783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Тсуга канадская: запись V02205.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Исходный ассортимент, примечание [4].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Требование сопоставляется с заданным состоянием грунта.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40680"/>
            <a:ext cx="11247120" cy="612648"/>
          </a:xfrm>
          <a:prstGeom prst="roundRect">
            <a:avLst/>
          </a:prstGeom>
          <a:solidFill>
            <a:srgbClr val="E3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193F32"/>
                </a:solidFill>
                <a:latin typeface="DejaVu Sans"/>
              </a:defRPr>
            </a:pPr>
            <a:r>
              <a:t>Связь с источниками реализована; полный действующий нормативный профиль пока не подключён.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ПРОВЕРКА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Воспроизводимость и границы текущей версии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Источник: документация, §§16–18; протокол тестов 0.6.1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46504"/>
            <a:ext cx="3593592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11095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282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Программных теста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82112"/>
            <a:ext cx="3191256" cy="2770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По приложенному протоколу: ядро, Tk-интерфейс, Undo, шаблоны, генерация и обратное чтение DXF.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Linux · Python 3.13.5 · Xvfb.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46504"/>
            <a:ext cx="3593592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11095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DXF → DXF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523744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Контрольный прогон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182112"/>
            <a:ext cx="3191256" cy="2770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85 новых + 6 ручных = 91 посадка.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Повторное открытие и PASS по выбранным тестовым условиям.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Вход, выход и отчёты приложены.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46504"/>
            <a:ext cx="3593592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11095"/>
            <a:ext cx="3191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7457"/>
                </a:solidFill>
                <a:latin typeface="DejaVu Sans"/>
              </a:defRPr>
            </a:pPr>
            <a:r>
              <a:t>ДАЛЕЕ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523744"/>
            <a:ext cx="3191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193F32"/>
                </a:solidFill>
                <a:latin typeface="DejaVu Sans"/>
              </a:defRPr>
            </a:pPr>
            <a:r>
              <a:t>Перед внедрением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182112"/>
            <a:ext cx="3191256" cy="2770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Подтверждённый профиль норм.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Docker-упаковка.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Испытания в МосТех.ОС.</a:t>
            </a:r>
          </a:p>
          <a:p>
            <a:pPr>
              <a:spcAft>
                <a:spcPts val="900"/>
              </a:spcAft>
              <a:defRPr sz="1700" b="0">
                <a:solidFill>
                  <a:srgbClr val="243A32"/>
                </a:solidFill>
                <a:latin typeface="DejaVu Sans"/>
              </a:defRPr>
            </a:pPr>
            <a:r>
              <a:t>Уточнение натурных данных и размеров растений.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ЗАПУСК И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13816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93F32"/>
                </a:solidFill>
                <a:latin typeface="DejaVu Sans"/>
              </a:defRPr>
            </a:pPr>
            <a:r>
              <a:t>Готовый маршрут для проверки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82512"/>
            <a:ext cx="11247120" cy="13716"/>
          </a:xfrm>
          <a:prstGeom prst="rect">
            <a:avLst/>
          </a:prstGeom>
          <a:solidFill>
            <a:srgbClr val="CB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800" b="0">
                <a:solidFill>
                  <a:srgbClr val="5A7065"/>
                </a:solidFill>
                <a:latin typeface="DejaVu Sans"/>
              </a:defRPr>
            </a:pPr>
            <a:r>
              <a:t>Команда «Не работаем с утками» · GreenCAD Desktop 0.6.1 · ЛЦТ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357457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46504"/>
            <a:ext cx="11247120" cy="932688"/>
          </a:xfrm>
          <a:prstGeom prst="roundRect">
            <a:avLst/>
          </a:prstGeom>
          <a:solidFill>
            <a:srgbClr val="193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02536"/>
            <a:ext cx="10789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github.com/DankoDmitry/GreenCAD_prototype_2026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17520"/>
            <a:ext cx="5486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1. Открыть prototype/greencad_desktop_v1.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2. Установить зависимости.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3. Запустить START_GENERATION_WINDOWS.bat.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4. Построить и принять вариант.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5. Проверить и экспортировать DXF.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3054096"/>
            <a:ext cx="5029200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В репозитории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Исходный код и примеры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Документация и схема алгоритма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Отчёты и результаты проверок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Презентация</a:t>
            </a: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243A32"/>
                </a:solidFill>
                <a:latin typeface="DejaVu Sans"/>
              </a:defRPr>
            </a:pPr>
            <a:r>
              <a:t>Linux: run_linux.sh или CLI-инструменты.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