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4a313fd89b4757" /><Relationship Type="http://schemas.openxmlformats.org/officeDocument/2006/relationships/extended-properties" Target="/docProps/app.xml" Id="R4cd4d06f85944854" /><Relationship Type="http://schemas.openxmlformats.org/officeDocument/2006/relationships/officeDocument" Target="/ppt/presentation.xml" Id="R1ec40f80de5d46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a8674beaeb4cf3"/>
  </p:sldMasterIdLst>
  <p:notesMasterIdLst>
    <p:notesMasterId xmlns:r="http://schemas.openxmlformats.org/officeDocument/2006/relationships" r:id="Rc01b9ea4a24e411c"/>
  </p:notesMasterIdLst>
  <p:sldIdLst>
    <p:sldId xmlns:r="http://schemas.openxmlformats.org/officeDocument/2006/relationships" id="256" r:id="R7da3a921936640e0"/>
    <p:sldId xmlns:r="http://schemas.openxmlformats.org/officeDocument/2006/relationships" id="257" r:id="Rcc73e839dc694f7d"/>
    <p:sldId xmlns:r="http://schemas.openxmlformats.org/officeDocument/2006/relationships" id="258" r:id="R2419134d31784c91"/>
    <p:sldId xmlns:r="http://schemas.openxmlformats.org/officeDocument/2006/relationships" id="259" r:id="R545d4ede18694dba"/>
    <p:sldId xmlns:r="http://schemas.openxmlformats.org/officeDocument/2006/relationships" id="260" r:id="R73cbd1cc58f74c96"/>
    <p:sldId xmlns:r="http://schemas.openxmlformats.org/officeDocument/2006/relationships" id="261" r:id="R7317fbee54554c0f"/>
    <p:sldId xmlns:r="http://schemas.openxmlformats.org/officeDocument/2006/relationships" id="262" r:id="Ra3a2c349763544a8"/>
    <p:sldId xmlns:r="http://schemas.openxmlformats.org/officeDocument/2006/relationships" id="263" r:id="R0c92e34f6e524261"/>
    <p:sldId xmlns:r="http://schemas.openxmlformats.org/officeDocument/2006/relationships" id="264" r:id="R446db823b2364cd7"/>
    <p:sldId xmlns:r="http://schemas.openxmlformats.org/officeDocument/2006/relationships" id="265" r:id="Ra2cbca7757704a48"/>
    <p:sldId xmlns:r="http://schemas.openxmlformats.org/officeDocument/2006/relationships" id="266" r:id="R1733517c85294bcd"/>
    <p:sldId xmlns:r="http://schemas.openxmlformats.org/officeDocument/2006/relationships" id="267" r:id="Rf78b00b4b3694139"/>
    <p:sldId xmlns:r="http://schemas.openxmlformats.org/officeDocument/2006/relationships" id="268" r:id="R2648550c70314465"/>
    <p:sldId xmlns:r="http://schemas.openxmlformats.org/officeDocument/2006/relationships" id="269" r:id="Rfdb936391f614225"/>
    <p:sldId xmlns:r="http://schemas.openxmlformats.org/officeDocument/2006/relationships" id="270" r:id="R8d590fd3caf24549"/>
    <p:sldId xmlns:r="http://schemas.openxmlformats.org/officeDocument/2006/relationships" id="271" r:id="R98c0232e427d4f27"/>
    <p:sldId xmlns:r="http://schemas.openxmlformats.org/officeDocument/2006/relationships" id="272" r:id="Reb9979fbf3a54ba1"/>
    <p:sldId xmlns:r="http://schemas.openxmlformats.org/officeDocument/2006/relationships" id="273" r:id="R633b0ceb802f4b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3b37586e724b1b" /><Relationship Type="http://schemas.openxmlformats.org/officeDocument/2006/relationships/slideMaster" Target="/ppt/slideMasters/slideMaster1.xml" Id="R1ca8674beaeb4cf3" /><Relationship Type="http://schemas.openxmlformats.org/officeDocument/2006/relationships/notesMaster" Target="/ppt/notesMasters/notesMaster1.xml" Id="Rc01b9ea4a24e411c" /><Relationship Type="http://schemas.openxmlformats.org/officeDocument/2006/relationships/presProps" Target="/ppt/presProps.xml" Id="R1a72f8738e484094" /><Relationship Type="http://schemas.openxmlformats.org/officeDocument/2006/relationships/viewProps" Target="/ppt/viewProps.xml" Id="Ra09d6dead0f644f6" /><Relationship Type="http://schemas.openxmlformats.org/officeDocument/2006/relationships/tableStyles" Target="/ppt/tableStyles.xml" Id="R1a65504a20fa4ee2" /><Relationship Type="http://schemas.openxmlformats.org/officeDocument/2006/relationships/slide" Target="/ppt/slides/slide1.xml" Id="R7da3a921936640e0" /><Relationship Type="http://schemas.openxmlformats.org/officeDocument/2006/relationships/slide" Target="/ppt/slides/slide2.xml" Id="Rcc73e839dc694f7d" /><Relationship Type="http://schemas.openxmlformats.org/officeDocument/2006/relationships/slide" Target="/ppt/slides/slide3.xml" Id="R2419134d31784c91" /><Relationship Type="http://schemas.openxmlformats.org/officeDocument/2006/relationships/slide" Target="/ppt/slides/slide4.xml" Id="R545d4ede18694dba" /><Relationship Type="http://schemas.openxmlformats.org/officeDocument/2006/relationships/slide" Target="/ppt/slides/slide5.xml" Id="R73cbd1cc58f74c96" /><Relationship Type="http://schemas.openxmlformats.org/officeDocument/2006/relationships/slide" Target="/ppt/slides/slide6.xml" Id="R7317fbee54554c0f" /><Relationship Type="http://schemas.openxmlformats.org/officeDocument/2006/relationships/slide" Target="/ppt/slides/slide7.xml" Id="Ra3a2c349763544a8" /><Relationship Type="http://schemas.openxmlformats.org/officeDocument/2006/relationships/slide" Target="/ppt/slides/slide8.xml" Id="R0c92e34f6e524261" /><Relationship Type="http://schemas.openxmlformats.org/officeDocument/2006/relationships/slide" Target="/ppt/slides/slide9.xml" Id="R446db823b2364cd7" /><Relationship Type="http://schemas.openxmlformats.org/officeDocument/2006/relationships/slide" Target="/ppt/slides/slide10.xml" Id="Ra2cbca7757704a48" /><Relationship Type="http://schemas.openxmlformats.org/officeDocument/2006/relationships/slide" Target="/ppt/slides/slide11.xml" Id="R1733517c85294bcd" /><Relationship Type="http://schemas.openxmlformats.org/officeDocument/2006/relationships/slide" Target="/ppt/slides/slide12.xml" Id="Rf78b00b4b3694139" /><Relationship Type="http://schemas.openxmlformats.org/officeDocument/2006/relationships/slide" Target="/ppt/slides/slide13.xml" Id="R2648550c70314465" /><Relationship Type="http://schemas.openxmlformats.org/officeDocument/2006/relationships/slide" Target="/ppt/slides/slide14.xml" Id="Rfdb936391f614225" /><Relationship Type="http://schemas.openxmlformats.org/officeDocument/2006/relationships/slide" Target="/ppt/slides/slide15.xml" Id="R8d590fd3caf24549" /><Relationship Type="http://schemas.openxmlformats.org/officeDocument/2006/relationships/slide" Target="/ppt/slides/slide16.xml" Id="R98c0232e427d4f27" /><Relationship Type="http://schemas.openxmlformats.org/officeDocument/2006/relationships/slide" Target="/ppt/slides/slide17.xml" Id="Reb9979fbf3a54ba1" /><Relationship Type="http://schemas.openxmlformats.org/officeDocument/2006/relationships/slide" Target="/ppt/slides/slide18.xml" Id="R633b0ceb802f4b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2a42df7e62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8ab3d894bf4933" /><Relationship Type="http://schemas.openxmlformats.org/officeDocument/2006/relationships/notesMaster" Target="/ppt/notesMasters/notesMaster1.xml" Id="R343c2d01fcc044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59867d66284079" /><Relationship Type="http://schemas.openxmlformats.org/officeDocument/2006/relationships/notesMaster" Target="/ppt/notesMasters/notesMaster1.xml" Id="R9ecb5eb69a4940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2666759bb49a3" /><Relationship Type="http://schemas.openxmlformats.org/officeDocument/2006/relationships/notesMaster" Target="/ppt/notesMasters/notesMaster1.xml" Id="R8ca6bbb71ff646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2a0b0b9956440a" /><Relationship Type="http://schemas.openxmlformats.org/officeDocument/2006/relationships/notesMaster" Target="/ppt/notesMasters/notesMaster1.xml" Id="Rb1ca808985fa49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bf4378600547fb" /><Relationship Type="http://schemas.openxmlformats.org/officeDocument/2006/relationships/notesMaster" Target="/ppt/notesMasters/notesMaster1.xml" Id="R0fcddb404dc84f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c9c6d87f4047b0" /><Relationship Type="http://schemas.openxmlformats.org/officeDocument/2006/relationships/notesMaster" Target="/ppt/notesMasters/notesMaster1.xml" Id="R40826ee21fcb4e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55e73d6f364bf4" /><Relationship Type="http://schemas.openxmlformats.org/officeDocument/2006/relationships/notesMaster" Target="/ppt/notesMasters/notesMaster1.xml" Id="R6a356d46737543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dddd0834b942e2" /><Relationship Type="http://schemas.openxmlformats.org/officeDocument/2006/relationships/notesMaster" Target="/ppt/notesMasters/notesMaster1.xml" Id="R4cf1ee3d153644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92c9e6e39b408c" /><Relationship Type="http://schemas.openxmlformats.org/officeDocument/2006/relationships/notesMaster" Target="/ppt/notesMasters/notesMaster1.xml" Id="R4b6edcf5892e48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52da1677ef4506" /><Relationship Type="http://schemas.openxmlformats.org/officeDocument/2006/relationships/notesMaster" Target="/ppt/notesMasters/notesMaster1.xml" Id="R9b0152ca27e944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c17ab9babd42b1" /><Relationship Type="http://schemas.openxmlformats.org/officeDocument/2006/relationships/notesMaster" Target="/ppt/notesMasters/notesMaster1.xml" Id="R4495e919a1404b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0f9d629fe3450f" /><Relationship Type="http://schemas.openxmlformats.org/officeDocument/2006/relationships/notesMaster" Target="/ppt/notesMasters/notesMaster1.xml" Id="Rf4d7343b0b5f4d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15f44d807645b7" /><Relationship Type="http://schemas.openxmlformats.org/officeDocument/2006/relationships/notesMaster" Target="/ppt/notesMasters/notesMaster1.xml" Id="R7ab84c3c083641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104dbb56234358" /><Relationship Type="http://schemas.openxmlformats.org/officeDocument/2006/relationships/notesMaster" Target="/ppt/notesMasters/notesMaster1.xml" Id="R67732d1d31aa42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b73e77c7c74f6d" /><Relationship Type="http://schemas.openxmlformats.org/officeDocument/2006/relationships/notesMaster" Target="/ppt/notesMasters/notesMaster1.xml" Id="R9465cdbdf2af4f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d0ecf41df346c4" /><Relationship Type="http://schemas.openxmlformats.org/officeDocument/2006/relationships/notesMaster" Target="/ppt/notesMasters/notesMaster1.xml" Id="R41c66edc29434a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79227579974557" /><Relationship Type="http://schemas.openxmlformats.org/officeDocument/2006/relationships/notesMaster" Target="/ppt/notesMasters/notesMaster1.xml" Id="R4990c318122544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912de9ea2b4f41" /><Relationship Type="http://schemas.openxmlformats.org/officeDocument/2006/relationships/notesMaster" Target="/ppt/notesMasters/notesMaster1.xml" Id="R6aa04964772e44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Официальный обязательный титульный слайд ЛЦТ 2026. Проект: GreenCAD. Команда: «Не работаем с утками».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Обязательный слайд шаблона. Данные команды и краткое описание заполнены без изменения сетки.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Лишние три карточки удалены в соответствии с правилами шаблона для команды из двух человек.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Формулировки основаны на фактическом составе команды и реальном техническом вызове проекта.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Краткая техническая и маркетинговая суть решения в обязательной сетке шаблона.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разделы 1–2 официального ТЗ и фактическая граница ответственности GreenCAD.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README.md, docs/PROCESS.md и src/greencad/pipeline.py.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полный preflight реального подготовленного DXF проекта 3-й Парковой.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config/norms/sp42_2016.json и config/norms/moscow_743_pp.json.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Метрики взяты из полного реального прогона и run_manifest.json.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Generator и Validator реализованы отдельными модулями и используют только общие исходные данные.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выполнено по handles и CAD-атрибутам входного и выходного DXF.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Примеры взяты из live-result: explanations.json, rejections.json и layout_omissions.json.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Визуализация построена из точных input.dxf и result.dxf конкурсного live-bundle с одинаковыми границами координат.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полный прогон проекта 3-й Парковой. Диаграмма показывает оба этапа отбора по run_manifest.json, rejections.json и layout_omissions.json.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demo route использует прослеживаемый фрагмент полного конкурсного DXF; сценарий выступления рассчитан на 5–7 минут.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обещания соответствуют docs/SUBMISSION_COMPLIANCE.md и fail-closed проектному intake.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вывод основан на полном и live-прогонах, независимой валидации и CAD-проверке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6e9cb8d914a8e" /><Relationship Type="http://schemas.openxmlformats.org/officeDocument/2006/relationships/image" Target="/ppt/media/image2.png" Id="R2c346494365946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bcd2151c74a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4274b28314a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19d9799bb41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c6e8169aa42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6b28a5317478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f58e2d6bd4a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e13065ce74f4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b03ed660e43c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93897dd1e4af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00eadd0784bd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f782366cd48e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92d8cbe784af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b058cb513740f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d61334f1348b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90e4f0c25422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1ad27086f4b4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dd62913404de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1eb87cd804b1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942883795422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6728ca1544f4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ad4002156498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653257d604e41" /></Relationships>
</file>

<file path=ppt/slideLayouts/slideLayout1.xml><?xml version="1.0" encoding="utf-8"?>
<p:sldLayout xmlns:p="http://schemas.openxmlformats.org/presentationml/2006/main" showMasterSp="1" showMasterPhAnim="0" matchingName="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2c346494365946d1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83682889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3E1C55A9-511B-4778-A5AE-EB89C4060AE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Иконка задачи</a:t>
            </a:r>
            <a:endParaRPr/>
          </a:p>
        </p:txBody>
      </p:sp>
      <p:sp>
        <p:nvSpPr>
          <p:cNvPr id="88029575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FC925F5-CC30-479F-9E11-9CD88DA3768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НАЗВАНИЕ КОМАНДЫ</a:t>
            </a:r>
            <a:endParaRPr/>
          </a:p>
        </p:txBody>
      </p:sp>
      <p:sp>
        <p:nvSpPr>
          <p:cNvPr id="401620835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B731B13D-2B4C-4C30-8BB1-019A8FB13F8B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0895DC2-85CA-40E4-A12B-999E84BE99FD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pPr>
              <a:buNone/>
            </a:pPr>
            <a:r>
              <a:rPr sz="1600" b="0"/>
              <a:t>Номер и название задачи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0" matchingName="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7076004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8DAF3153-1FBF-4218-A320-857F2033F42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Фото команды</a:t>
            </a:r>
            <a:endParaRPr/>
          </a:p>
        </p:txBody>
      </p:sp>
      <p:sp>
        <p:nvSpPr>
          <p:cNvPr id="166635619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CC3A4B1-3675-4478-9FA3-70306367883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0" matchingName="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5223789" name="Дата 3">
            <a:extLst xmlns:a="http://schemas.openxmlformats.org/drawingml/2006/main">
              <a:ext uri="{FF2B5EF4-FFF2-40B4-BE49-F238E27FC236}">
                <a16:creationId xmlns:a16="http://schemas.microsoft.com/office/drawing/2014/main" id="{BB2EF428-C81A-46C7-B0EC-63439CD3D48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67EB9651-F031-4963-AFE9-33BCC0E88757}" type="datetime1">
              <a:t>16.09.2026</a:t>
            </a:fld>
            <a:endParaRPr/>
          </a:p>
        </p:txBody>
      </p:sp>
      <p:sp>
        <p:nvSpPr>
          <p:cNvPr id="104878655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F514AEB-7915-4B38-9B24-D2C18B22B31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99380906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C673629-A563-4987-A7C5-9CC190721C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4</a:t>
            </a:fld>
            <a:endParaRPr/>
          </a:p>
        </p:txBody>
      </p:sp>
      <p:sp>
        <p:nvSpPr>
          <p:cNvPr id="192736678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8C5C32D-6555-426F-B8D3-5CF4AB761FD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  <p:sp>
        <p:nvSpPr>
          <p:cNvPr id="179597352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25A1B71-02CE-4774-A028-661B09F036E3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191393798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8948B38-D9AF-435E-97C9-E1D5BE9B868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1154833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26957CA-9819-43BB-8D2A-8FFE1182CD2D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200006364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9E422A-6F64-49ED-AAD0-49A5DAB991CA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66002996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8754114-C48E-42B0-88B4-1C276274B68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0" matchingName="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8560272" name="Дата 3">
            <a:extLst xmlns:a="http://schemas.openxmlformats.org/drawingml/2006/main">
              <a:ext uri="{FF2B5EF4-FFF2-40B4-BE49-F238E27FC236}">
                <a16:creationId xmlns:a16="http://schemas.microsoft.com/office/drawing/2014/main" id="{8C466EF5-ED48-4895-93ED-BD3E386C7E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1021F813-DBA1-42EC-A748-A9CC16659E6B}" type="datetime1">
              <a:t>16.09.2026</a:t>
            </a:fld>
            <a:endParaRPr/>
          </a:p>
        </p:txBody>
      </p:sp>
      <p:sp>
        <p:nvSpPr>
          <p:cNvPr id="112325648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E557B71-042F-44F9-BAA0-3EFABEE690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0745183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6F422BA-79C6-4244-8805-12706F2484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5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0" matchingName="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1669326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F293E0ED-A064-4FD0-A5A0-48A717B2D1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12371166" name="Дата 3">
            <a:extLst xmlns:a="http://schemas.openxmlformats.org/drawingml/2006/main">
              <a:ext uri="{FF2B5EF4-FFF2-40B4-BE49-F238E27FC236}">
                <a16:creationId xmlns:a16="http://schemas.microsoft.com/office/drawing/2014/main" id="{514F55D8-32BE-488C-B6FC-E6015808462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7DE2642A-6018-4CC1-81AB-5FD8D2782D4F}" type="datetime1">
              <a:t>16.09.2026</a:t>
            </a:fld>
            <a:endParaRPr/>
          </a:p>
        </p:txBody>
      </p:sp>
      <p:sp>
        <p:nvSpPr>
          <p:cNvPr id="185866539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804B7DC-5C44-4855-B123-3C871CBC77B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1058281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6322815-F5CB-4A2D-92CD-0E304AA7989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454463469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94AF62D-DBD9-4CD5-ACC7-FCC37E48B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0" matchingName="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853603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C595EB78-C519-462A-B53B-566D42B57C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04292606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D1BC1A1-86C0-4393-B0AA-FBC41894094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2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889770961" name="Дата 3">
            <a:extLst xmlns:a="http://schemas.openxmlformats.org/drawingml/2006/main">
              <a:ext uri="{FF2B5EF4-FFF2-40B4-BE49-F238E27FC236}">
                <a16:creationId xmlns:a16="http://schemas.microsoft.com/office/drawing/2014/main" id="{B76478A9-E2F5-4E4D-9984-EAA8EA9ABC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3014BBE-C503-4380-A869-5EE8294FE947}" type="datetime1">
              <a:t>16.09.2026</a:t>
            </a:fld>
            <a:endParaRPr/>
          </a:p>
        </p:txBody>
      </p:sp>
      <p:sp>
        <p:nvSpPr>
          <p:cNvPr id="121339198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0230B0A-016B-4D4C-946B-92BAF2EFA67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3777490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40CC4DF-8B98-4D36-BA34-EBF66C22D0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91928755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7F8CFDD-36C9-4BD2-B26D-EF67A1738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0" matchingName="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8555898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9B227FB0-62C2-48F1-A9F6-2228D80E5E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17223496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52C234A4-0FE5-41D0-8E3B-CA7F0C84FF4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31636676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82CF8CA-35DE-471D-A150-1C888F36DF7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91712141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5663197E-28E9-41FB-A55D-42B156BD1D2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2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72805432" name="Дата 3">
            <a:extLst xmlns:a="http://schemas.openxmlformats.org/drawingml/2006/main">
              <a:ext uri="{FF2B5EF4-FFF2-40B4-BE49-F238E27FC236}">
                <a16:creationId xmlns:a16="http://schemas.microsoft.com/office/drawing/2014/main" id="{2EB4A172-4B6B-4A9A-BF41-5A412834AA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D568497-304A-497F-ADAE-97D3CF462C1C}" type="datetime1">
              <a:t>16.09.2026</a:t>
            </a:fld>
            <a:endParaRPr/>
          </a:p>
        </p:txBody>
      </p:sp>
      <p:sp>
        <p:nvSpPr>
          <p:cNvPr id="65773432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762B388-0591-47A4-B85A-7247BD320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4144500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5C8EEC1-50ED-4D9C-B957-22BF1748C8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29104647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16DBD7F-382A-45D6-8BCF-544845B1C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0" matchingName="" type="blank" preserve="1" userDrawn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8121395" name="Дата 3">
            <a:extLst xmlns:a="http://schemas.openxmlformats.org/drawingml/2006/main">
              <a:ext uri="{FF2B5EF4-FFF2-40B4-BE49-F238E27FC236}">
                <a16:creationId xmlns:a16="http://schemas.microsoft.com/office/drawing/2014/main" id="{34ACDD92-4F00-43D0-A25D-F348EFE94EA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2CB240C-04A3-49D4-83F9-87A9C6C414DC}" type="datetime1">
              <a:t>16.09.2026</a:t>
            </a:fld>
            <a:endParaRPr/>
          </a:p>
        </p:txBody>
      </p:sp>
      <p:sp>
        <p:nvSpPr>
          <p:cNvPr id="148427973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175157F-A163-4942-961E-70DD6B2C057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8618675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EEA0958-9A16-4DC6-B19F-5F1E4A2338A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0" matchingName="" type="objTx" preserve="1" userDrawn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185011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D0B35C6-14D4-4FEE-AE64-011F0F5DC4D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975281028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8AC1DECC-B045-456D-9357-82B4126C0A3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50"/>
            </a:lvl1pPr>
            <a:lvl2pPr>
              <a:buNone/>
              <a:defRPr sz="1500"/>
            </a:lvl2pPr>
            <a:lvl3pPr>
              <a:buNone/>
              <a:defRPr sz="1250"/>
            </a:lvl3pPr>
            <a:lvl4pPr>
              <a:buNone/>
              <a:defRPr sz="1150"/>
            </a:lvl4pPr>
            <a:lvl5pPr>
              <a:buNone/>
              <a:defRPr sz="1150"/>
            </a:lvl5pPr>
            <a:lvl6pPr>
              <a:buNone/>
              <a:defRPr sz="1250"/>
            </a:lvl6pPr>
            <a:lvl7pPr>
              <a:buNone/>
              <a:defRPr sz="1250"/>
            </a:lvl7pPr>
            <a:lvl8pPr>
              <a:buNone/>
              <a:defRPr sz="1250"/>
            </a:lvl8pPr>
            <a:lvl9pPr>
              <a:buNone/>
              <a:defRPr sz="12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896366570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908FF4B-7938-4975-8048-2A18494ADE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76611987" name="Дата 3">
            <a:extLst xmlns:a="http://schemas.openxmlformats.org/drawingml/2006/main">
              <a:ext uri="{FF2B5EF4-FFF2-40B4-BE49-F238E27FC236}">
                <a16:creationId xmlns:a16="http://schemas.microsoft.com/office/drawing/2014/main" id="{4C3A21AE-C372-495E-9DB8-1A98BFF08F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E74468B-3512-454B-AB51-7AE95604D39E}" type="datetime1">
              <a:t>16.09.2026</a:t>
            </a:fld>
            <a:endParaRPr/>
          </a:p>
        </p:txBody>
      </p:sp>
      <p:sp>
        <p:nvSpPr>
          <p:cNvPr id="155615248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0BF8604-8D01-4BC3-B28F-88FE3B36794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1458955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B95FCE8-D8EA-4353-BB59-FAF627E62C3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0" matchingName="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801652" name="Дата 4">
            <a:extLst xmlns:a="http://schemas.openxmlformats.org/drawingml/2006/main">
              <a:ext uri="{FF2B5EF4-FFF2-40B4-BE49-F238E27FC236}">
                <a16:creationId xmlns:a16="http://schemas.microsoft.com/office/drawing/2014/main" id="{757A70EC-35AE-4998-99AC-76C126C669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BAB2196-A440-4E25-B9FF-D0ADB01B1A15}" type="datetime1">
              <a:t>16.09.2026</a:t>
            </a:fld>
            <a:endParaRPr/>
          </a:p>
        </p:txBody>
      </p:sp>
      <p:sp>
        <p:nvSpPr>
          <p:cNvPr id="2075348248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04A4D0F2-EA93-40C6-A904-12042F4B46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51987222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811F4F4-3473-4483-9D4A-423C973773D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96834576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87A1CD7-3220-42A7-9EF3-41FB0FCAA8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1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0" matchingName="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1270877" name="Дата 3">
            <a:extLst xmlns:a="http://schemas.openxmlformats.org/drawingml/2006/main">
              <a:ext uri="{FF2B5EF4-FFF2-40B4-BE49-F238E27FC236}">
                <a16:creationId xmlns:a16="http://schemas.microsoft.com/office/drawing/2014/main" id="{29F34A8C-1162-4BA8-AE76-DD5CA226026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7BAE699-64F9-49EF-B784-2DEF2B221955}" type="datetime1">
              <a:t>16.09.2026</a:t>
            </a:fld>
            <a:endParaRPr/>
          </a:p>
        </p:txBody>
      </p:sp>
      <p:sp>
        <p:nvSpPr>
          <p:cNvPr id="195041990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ECF31E20-4399-47FA-B3F0-1D4B04627E3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000584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A63C17D-3DE2-4F78-9852-EEF1449CB0D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79238090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6007D3B-2B70-4986-885A-D09B0B23DEFD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874422937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F528554-6BD8-4FB6-A32B-78CE11EBE7CF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694822356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4127F99D-419D-4BED-AEA6-01D1DC15FC33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26909511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BBA54663-2D32-4194-8888-F92DD1BFFB92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68253097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6180241-6129-4566-BC30-B754FCDD79F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92645497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B6D874D9-E9B7-469C-A4BA-AD9C992A56FF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06979775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F04728-7B85-4685-9362-A2E268906010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63573894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FEDBC616-D183-4220-8600-2002DFEFCD27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47636417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78743F14-D05C-4E8B-BF50-019EA1181C64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45855484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ABF806A5-5E90-42BB-9849-45732B58C21C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68261130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8D94911-F9F7-44FE-91D9-A0F399AC4413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68018869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B7E4BDA-E37A-4DBD-BBA0-85910332F5C8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95772718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CAA2916-E079-4AFC-B419-C86C89C1C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68992539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8C79B29-1A36-4291-BF0B-49796C99528E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2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  <p:sp>
        <p:nvSpPr>
          <p:cNvPr id="25697210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7293A918-6AED-4747-94F2-71CA85CE2EF9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  <a:endParaRPr/>
          </a:p>
        </p:txBody>
      </p:sp>
      <p:sp>
        <p:nvSpPr>
          <p:cNvPr id="120814888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6F41D3D-3D5E-4C1E-8E48-BBBDEB3318B0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  <a:endParaRPr/>
          </a:p>
        </p:txBody>
      </p:sp>
      <p:sp>
        <p:nvSpPr>
          <p:cNvPr id="68421000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9286BED-29E6-4767-94E2-D6A36D180198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  <a:endParaRPr/>
          </a:p>
        </p:txBody>
      </p:sp>
      <p:sp>
        <p:nvSpPr>
          <p:cNvPr id="12519466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DF5727C1-C5B3-4EC5-B2A8-C034841B2E1E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  <a:endParaRPr/>
          </a:p>
        </p:txBody>
      </p:sp>
      <p:sp>
        <p:nvSpPr>
          <p:cNvPr id="196961749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2C3DF2B-F01E-4E37-8BE5-42D3F0615AB2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0" matchingName="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40847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FDEC31-3E78-4266-8FEE-796FB0F2881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AFA80CC-940E-479C-90C0-76DA923785E9}" type="datetime1">
              <a:t>16.09.2026</a:t>
            </a:fld>
            <a:endParaRPr/>
          </a:p>
        </p:txBody>
      </p:sp>
      <p:sp>
        <p:nvSpPr>
          <p:cNvPr id="208819332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BBDFBCD-4AF0-4108-A64D-D234C64227C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7575896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A838D6D-2370-412C-9DB4-45EA0E49DD0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17786555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27A1682-9EAB-4026-B448-D0073CD0A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839753479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B7684478-6F20-4724-B28B-8AB02145116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6725458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00B6A8B9-7301-4A45-AE71-C696FE9ACB1D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01935067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76A6A4E3-FFE6-476B-9364-4F0AFEFB099F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20516688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A4B90357-0870-46E1-A4EE-4D0EE172682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0" matchingName="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6253298" name="Дата 3">
            <a:extLst xmlns:a="http://schemas.openxmlformats.org/drawingml/2006/main">
              <a:ext uri="{FF2B5EF4-FFF2-40B4-BE49-F238E27FC236}">
                <a16:creationId xmlns:a16="http://schemas.microsoft.com/office/drawing/2014/main" id="{75122FEE-4EB1-4EFA-ADCA-FAB952D9F60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82A4DA7B-A7D8-4443-AD1C-4C7CDC678488}" type="datetime1">
              <a:t>16.09.2026</a:t>
            </a:fld>
            <a:endParaRPr/>
          </a:p>
        </p:txBody>
      </p:sp>
      <p:sp>
        <p:nvSpPr>
          <p:cNvPr id="149572482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576F707-847F-4DB6-A114-B6199F97A9A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8407401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75DF1B7-21CF-4541-907F-FE9551FB5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2103893195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656E3C74-6F1B-4701-8122-18380A05DD4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  <a:endParaRPr/>
          </a:p>
        </p:txBody>
      </p:sp>
      <p:sp>
        <p:nvSpPr>
          <p:cNvPr id="808292524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F267E228-C0B3-4AE9-A596-E923C9E2B797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3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311512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F3682AA4-E555-4125-8F0A-1EF89E5C06B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3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9899808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E72727C6-6265-4733-91EB-5C8C9FEFA0B4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3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4170913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34B7D822-2AF3-4FCE-8AE4-6A8131C79A0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3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39403092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755DC66-3E7B-4FE9-9DA4-48053E098F88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3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0" matchingName="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254082" name="Дата 3">
            <a:extLst xmlns:a="http://schemas.openxmlformats.org/drawingml/2006/main">
              <a:ext uri="{FF2B5EF4-FFF2-40B4-BE49-F238E27FC236}">
                <a16:creationId xmlns:a16="http://schemas.microsoft.com/office/drawing/2014/main" id="{962C5004-E5BF-4A04-84E7-24A7E7DCEE9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4E505DF-C567-47F2-9374-60838F800101}" type="datetime1">
              <a:t>16.09.2026</a:t>
            </a:fld>
            <a:endParaRPr/>
          </a:p>
        </p:txBody>
      </p:sp>
      <p:sp>
        <p:nvSpPr>
          <p:cNvPr id="151079338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09BDD55-6D35-4ADE-A299-971DF087B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55229932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94DC379-9EAD-4B86-BD6F-CDF37A5317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33725686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75BE100-387B-4B7D-86FD-D8356436F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86892924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5235D4-3487-4889-A32E-95557124DE37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38882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78DADA9-B105-4A87-B99F-9C9D4212D5D1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1815580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8E96F-CC64-4C65-925F-13EFFDCABEE8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26397242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2377EA4-3CA3-418D-B7F6-CC32D2B9B2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6472058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289F606-CD19-4983-8BE8-74FEF96D90B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2275498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7B2AE37-675C-435B-B9E2-734EE8F1C2C7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0" matchingName="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8581099" name="Дата 3">
            <a:extLst xmlns:a="http://schemas.openxmlformats.org/drawingml/2006/main">
              <a:ext uri="{FF2B5EF4-FFF2-40B4-BE49-F238E27FC236}">
                <a16:creationId xmlns:a16="http://schemas.microsoft.com/office/drawing/2014/main" id="{6601C33D-7F9A-466B-8232-34A6224B084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2938A0C3-5C2F-47B8-B008-79A49A1195BA}" type="datetime1">
              <a:t>16.09.2026</a:t>
            </a:fld>
            <a:endParaRPr/>
          </a:p>
        </p:txBody>
      </p:sp>
      <p:sp>
        <p:nvSpPr>
          <p:cNvPr id="45079419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29FC554-1F71-4A64-A720-2CC3587627B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90081529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DAD2E7C-F043-4492-9C4D-441C6EB6FC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5973265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9003E5E-9E18-4F16-9BB4-926535EF64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6911458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EE66EFB-C79A-4D14-A906-009BEBC5357D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147668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37E5100-A481-4A41-95CF-D3FF18FD5BFA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3066030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17330F2-8F05-4B75-A70D-D6F96351D96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9916448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03A0501-4029-4488-AE2B-5DF4B4B0657A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16024821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3BB81CF-1070-4CE4-8D61-27B6986334C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165276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B4A253A-72FD-4C97-AA2F-BFECD1C8DB9B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695052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5707920-318F-4469-94E9-48B8BB5747E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6930435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B07C758-FD75-47CE-A10F-5761CA38B6A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0" matchingName="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669273" name="Дата 3">
            <a:extLst xmlns:a="http://schemas.openxmlformats.org/drawingml/2006/main">
              <a:ext uri="{FF2B5EF4-FFF2-40B4-BE49-F238E27FC236}">
                <a16:creationId xmlns:a16="http://schemas.microsoft.com/office/drawing/2014/main" id="{99A74787-B75C-4C2C-BC0F-D1008FCE00B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BF4F29EB-DFD0-428E-8E89-ED117A3553E3}" type="datetime1">
              <a:t>16.09.2026</a:t>
            </a:fld>
            <a:endParaRPr/>
          </a:p>
        </p:txBody>
      </p:sp>
      <p:sp>
        <p:nvSpPr>
          <p:cNvPr id="34375558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59785B1-418B-4A1C-A62C-C6F210ED4F5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7152266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E0C2617-1000-416D-9509-4B0770558C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2451429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CE076BE-1212-4D5A-9662-29FF6B518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63244288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1E7A71F-D11C-4F11-8B45-9CBB990181DB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9151942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0822108-7ABF-4197-A8EA-73866DBEA14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187920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8AA8D77-29D8-4A88-BA6C-41536E6AB70B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824148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922EBAF-03BF-43BD-BF14-627016069B30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540761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378B00-1BAD-4282-94DD-B322D6B2C2C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6283262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8A24415-D2F3-4144-8A63-CD119C2D077B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2061920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0BAA0CA-5E5A-474D-8E55-2D435B9ECDD6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1546260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D4F193F-E03A-4DEC-85A5-C56ECBFCC089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0" matchingName="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8498588" name="Дата 3">
            <a:extLst xmlns:a="http://schemas.openxmlformats.org/drawingml/2006/main">
              <a:ext uri="{FF2B5EF4-FFF2-40B4-BE49-F238E27FC236}">
                <a16:creationId xmlns:a16="http://schemas.microsoft.com/office/drawing/2014/main" id="{44211A99-DE09-4D70-A0B5-BF72505EBF4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52F0272-0FEA-44CE-966E-3D169B2F53D4}" type="datetime1">
              <a:t>16.09.2026</a:t>
            </a:fld>
            <a:endParaRPr/>
          </a:p>
        </p:txBody>
      </p:sp>
      <p:sp>
        <p:nvSpPr>
          <p:cNvPr id="144845255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53F2570-5ECC-4FD0-A3C1-AF89D2C30F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3310992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89ED567-678C-41EC-BC9A-62009FB8AA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12492746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E92C08B-5404-463E-A986-01B91ED0BC25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132256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78656EE-F70B-457F-9B5A-F59A1F9B813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7624083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FE79062-9D3C-4A2B-AB8D-0FF4FC8DCFBA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87600426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F802331-F2CC-48AB-8D19-5B4B0E45DEAA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776099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843A76F-19E6-4683-A068-2B5DC6363E5D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97108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42D596-1DF6-4428-BD01-DFFCDBBE104F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4918818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1E1A202-0111-4F57-AD51-32E934CB10E5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26896859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2920F93-D297-4711-9CEE-1DC1E82BC28F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959039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80787BC-8452-4939-8B06-D76F0F26EC3C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1028817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57E4DC7-986B-4B64-ABE6-485B683BBB67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415516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4D03C85-7AD2-421D-AEE7-60533AC201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showMasterSp="1" showMasterPhAnim="0" matchingName="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9579838" name="Дата 3">
            <a:extLst xmlns:a="http://schemas.openxmlformats.org/drawingml/2006/main">
              <a:ext uri="{FF2B5EF4-FFF2-40B4-BE49-F238E27FC236}">
                <a16:creationId xmlns:a16="http://schemas.microsoft.com/office/drawing/2014/main" id="{932F16F5-F777-46ED-BB57-183914BBBBB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62B0DBE-B5A9-470E-85A9-7CC062D5339A}" type="datetime1">
              <a:t>16.09.2026</a:t>
            </a:fld>
            <a:endParaRPr/>
          </a:p>
        </p:txBody>
      </p:sp>
      <p:sp>
        <p:nvSpPr>
          <p:cNvPr id="167580533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A5596ED-620A-406C-B986-7526E3F7B9A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1433720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4193757-E6CB-463B-BB97-9AC049E499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56088506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7C30CB1-C93D-4761-9470-7E546B54D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1221972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CEEFF30-6D01-4A3A-B166-BFB71C0DA4BC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  <a:endParaRPr/>
          </a:p>
        </p:txBody>
      </p:sp>
      <p:sp>
        <p:nvSpPr>
          <p:cNvPr id="1161188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96953A2-A79C-45CC-9EF9-BD91CDA7A59D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7194606-3D0A-4B33-A59C-93BD32F56A55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9A9C028-1E14-402F-887C-746002D94213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  <a:endParaRPr/>
          </a:p>
        </p:txBody>
      </p:sp>
      <p:sp>
        <p:nvSpPr>
          <p:cNvPr id="19225204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628CC38-D615-436C-96B5-0BCA700C6E99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  <a:endParaRPr/>
          </a:p>
        </p:txBody>
      </p:sp>
      <p:sp>
        <p:nvSpPr>
          <p:cNvPr id="103477980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694AD25-F55D-438C-83CE-2CD9EB0A6D8F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1" showMasterPhAnim="0" matchingName="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508616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7C9FCD5-4DCA-415B-83B4-0950042807A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896489918" name="Дата 3">
            <a:extLst xmlns:a="http://schemas.openxmlformats.org/drawingml/2006/main">
              <a:ext uri="{FF2B5EF4-FFF2-40B4-BE49-F238E27FC236}">
                <a16:creationId xmlns:a16="http://schemas.microsoft.com/office/drawing/2014/main" id="{4817BA79-38F0-4DE5-9950-B33D64820A0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D396B86-640F-4AD1-BBB2-E085B6CD8771}" type="datetime1">
              <a:t>16.09.2026</a:t>
            </a:fld>
            <a:endParaRPr/>
          </a:p>
        </p:txBody>
      </p:sp>
      <p:sp>
        <p:nvSpPr>
          <p:cNvPr id="37812774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1AEBDF6-B138-4A8D-AC8A-C1AC33D32F1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93889069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92D57AE-DD41-4367-A68D-B6FA1816CCE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34715051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60E0762-3E2E-402F-B0F9-A9A169B71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2021024583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2090EF5-FB4D-42EC-A8F6-7758753FD6F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32028016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1A1A305-5553-4BE0-82C1-27AB3C2526C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60447878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823A4EF-5B5E-421D-B5CC-645D78906001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1" showMasterPhAnim="0" matchingName="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123572" name="Дата 3">
            <a:extLst xmlns:a="http://schemas.openxmlformats.org/drawingml/2006/main">
              <a:ext uri="{FF2B5EF4-FFF2-40B4-BE49-F238E27FC236}">
                <a16:creationId xmlns:a16="http://schemas.microsoft.com/office/drawing/2014/main" id="{7BBB4A13-07A4-4064-8AD1-0738F13CDED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3AF0E63-1EB1-47F5-B09E-CA3E5DE528F3}" type="datetime1">
              <a:t>16.09.2026</a:t>
            </a:fld>
            <a:endParaRPr/>
          </a:p>
        </p:txBody>
      </p:sp>
      <p:sp>
        <p:nvSpPr>
          <p:cNvPr id="114716993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0B2C2C0-866F-462F-97CD-9C3D8304A9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3036871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A0C6D54-6882-4B81-AB2F-616BE25C7A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25910237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1F92001-45C8-4EC2-AC87-EE45F323B1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9363981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CB72E06-F0C1-484E-ADB3-9D5809F79FF1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99722443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5B8A2CEF-EBEE-42F3-AB6D-C869A18DE1AC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2558450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AD17F156-C5F7-4A05-9AFA-112526F1BB3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82372448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368DD6E3-A9B2-4D92-A115-C07A3C7A74AA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showMasterSp="1" showMasterPhAnim="0" matchingName="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45624748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B73B4D58-D791-4D11-9B59-18D806C44C6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90666637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77BCCBD-B39C-4FBA-8C59-5344FC9E8C67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6197673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012061E-BF4E-4387-AD7C-AAAA35769D4D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9067376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2F44795-9C76-4106-B399-2AAACF868FAC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0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7894898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06D00AD-E1D2-4BD3-8A72-509372D2497A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0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5861159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9C0FF65-CA59-4A97-8E8D-88CA86D2636E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453287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163499D-74A4-444F-ACD6-1464B85E093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025523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9C77FCB-8CD9-4EE9-B2B1-1DD62B94E1BC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0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20087965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C983575-C6F4-4646-95A0-91BD7F5F0DAF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0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cxnSp>
        <p:nvCxnSpPr>
          <p:cNvPr id="2145624758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5624759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5624760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5624761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E4B7A102-20D0-494E-8D6C-B1B5E02DED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18129555" name="Дата 8">
            <a:extLst xmlns:a="http://schemas.openxmlformats.org/drawingml/2006/main">
              <a:ext uri="{FF2B5EF4-FFF2-40B4-BE49-F238E27FC236}">
                <a16:creationId xmlns:a16="http://schemas.microsoft.com/office/drawing/2014/main" id="{B353EE56-FAB8-48BF-84DA-D280C4DD3032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9D490EE5-ED7D-46E8-8345-A78A0CB0F4A4}" type="datetime1">
              <a:t>16.09.2026</a:t>
            </a:fld>
            <a:endParaRPr/>
          </a:p>
        </p:txBody>
      </p:sp>
      <p:sp>
        <p:nvSpPr>
          <p:cNvPr id="2139654067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6BECC8AA-8347-47DB-84EE-9DCBE6E2F933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87854632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F5FEE51A-1840-4A96-9067-0207113A6E83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1" showMasterPhAnim="0" matchingName="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93936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7DBDC8B-3AAB-4C6A-9A12-77B23AB37E8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59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580386608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60A83551-778A-48D5-A2BB-A0B15CC9224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9900378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31FDBE69-26EC-4562-9D97-0AB3515B0095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66817185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478EF1C-2E3D-4412-A077-BC5AF08FCFD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932505230" name="Дата 3">
            <a:extLst xmlns:a="http://schemas.openxmlformats.org/drawingml/2006/main">
              <a:ext uri="{FF2B5EF4-FFF2-40B4-BE49-F238E27FC236}">
                <a16:creationId xmlns:a16="http://schemas.microsoft.com/office/drawing/2014/main" id="{CF82BD8F-956B-4A52-83DF-3ABAF842990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C8C16AD-D907-4463-BE30-FCBB33ACAE3F}" type="datetime1">
              <a:t>16.09.2026</a:t>
            </a:fld>
            <a:endParaRPr/>
          </a:p>
        </p:txBody>
      </p:sp>
      <p:sp>
        <p:nvSpPr>
          <p:cNvPr id="79260098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EE7B78C3-861C-4ABA-ACB7-A0EC0F29B77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5050469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EB1B58A-8C29-452C-984A-76E3B3DCFD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64420842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3BD43B4D-2D67-4990-B74E-69E20B843B0A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65631485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6ECE110-E27C-4555-AF24-7979A1CB918E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5425705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581D06EA-99B2-457A-B62B-FD5E4252D5AB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99025276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B0CAAA2-8685-400D-AFBA-EA140BC6800D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202672160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E670C0C-3636-48F8-9180-635926736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1" showMasterPhAnim="0" matchingName="" preserve="0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07b667456d14b1b" /><Relationship Type="http://schemas.openxmlformats.org/officeDocument/2006/relationships/theme" Target="/ppt/slideMasters/theme/theme2.xml" Id="R23c1e451bd2f478b" /><Relationship Type="http://schemas.openxmlformats.org/officeDocument/2006/relationships/slideLayout" Target="/ppt/slideLayouts/slideLayout1.xml" Id="R1bc60a9222ca4b1a" /><Relationship Type="http://schemas.openxmlformats.org/officeDocument/2006/relationships/slideLayout" Target="/ppt/slideLayouts/slideLayout2.xml" Id="R31c3bf3bab714ba5" /><Relationship Type="http://schemas.openxmlformats.org/officeDocument/2006/relationships/slideLayout" Target="/ppt/slideLayouts/slideLayout3.xml" Id="R82ab081c02654f55" /><Relationship Type="http://schemas.openxmlformats.org/officeDocument/2006/relationships/slideLayout" Target="/ppt/slideLayouts/slideLayout4.xml" Id="R44c284bbe5e3420d" /><Relationship Type="http://schemas.openxmlformats.org/officeDocument/2006/relationships/slideLayout" Target="/ppt/slideLayouts/slideLayout5.xml" Id="R1ca61cfbe6384402" /><Relationship Type="http://schemas.openxmlformats.org/officeDocument/2006/relationships/slideLayout" Target="/ppt/slideLayouts/slideLayout6.xml" Id="Re8f7696b92ca43e6" /><Relationship Type="http://schemas.openxmlformats.org/officeDocument/2006/relationships/slideLayout" Target="/ppt/slideLayouts/slideLayout7.xml" Id="Rcbb44fe289e3452f" /><Relationship Type="http://schemas.openxmlformats.org/officeDocument/2006/relationships/slideLayout" Target="/ppt/slideLayouts/slideLayout8.xml" Id="R36fb2264972143aa" /><Relationship Type="http://schemas.openxmlformats.org/officeDocument/2006/relationships/slideLayout" Target="/ppt/slideLayouts/slideLayout9.xml" Id="R026003afd324454e" /><Relationship Type="http://schemas.openxmlformats.org/officeDocument/2006/relationships/slideLayout" Target="/ppt/slideLayouts/slideLayout10.xml" Id="Rd61777d75f28448a" /><Relationship Type="http://schemas.openxmlformats.org/officeDocument/2006/relationships/slideLayout" Target="/ppt/slideLayouts/slideLayout11.xml" Id="Rcde62c3704f647a0" /><Relationship Type="http://schemas.openxmlformats.org/officeDocument/2006/relationships/slideLayout" Target="/ppt/slideLayouts/slideLayout12.xml" Id="Raac657e72df04864" /><Relationship Type="http://schemas.openxmlformats.org/officeDocument/2006/relationships/slideLayout" Target="/ppt/slideLayouts/slideLayout13.xml" Id="R0b148c15da1d4835" /><Relationship Type="http://schemas.openxmlformats.org/officeDocument/2006/relationships/slideLayout" Target="/ppt/slideLayouts/slideLayout14.xml" Id="R1e3a083b6779454e" /><Relationship Type="http://schemas.openxmlformats.org/officeDocument/2006/relationships/slideLayout" Target="/ppt/slideLayouts/slideLayout15.xml" Id="Rc8dae8e9177346ec" /><Relationship Type="http://schemas.openxmlformats.org/officeDocument/2006/relationships/slideLayout" Target="/ppt/slideLayouts/slideLayout16.xml" Id="R886f839efff9499e" /><Relationship Type="http://schemas.openxmlformats.org/officeDocument/2006/relationships/slideLayout" Target="/ppt/slideLayouts/slideLayout17.xml" Id="R7598112502f04790" /><Relationship Type="http://schemas.openxmlformats.org/officeDocument/2006/relationships/slideLayout" Target="/ppt/slideLayouts/slideLayout18.xml" Id="R3001c270bfc14b48" /><Relationship Type="http://schemas.openxmlformats.org/officeDocument/2006/relationships/slideLayout" Target="/ppt/slideLayouts/slideLayout19.xml" Id="R3e11228676aa409b" /><Relationship Type="http://schemas.openxmlformats.org/officeDocument/2006/relationships/slideLayout" Target="/ppt/slideLayouts/slideLayout20.xml" Id="Rc0bb12a7efb94696" /><Relationship Type="http://schemas.openxmlformats.org/officeDocument/2006/relationships/slideLayout" Target="/ppt/slideLayouts/slideLayout21.xml" Id="R818d4e1c4ace455b" /><Relationship Type="http://schemas.openxmlformats.org/officeDocument/2006/relationships/slideLayout" Target="/ppt/slideLayouts/slideLayout22.xml" Id="R92cf6564c4584877" /><Relationship Type="http://schemas.openxmlformats.org/officeDocument/2006/relationships/slideLayout" Target="/ppt/slideLayouts/slideLayout23.xml" Id="R1d3160ee99b94c1a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07b667456d14b1b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70974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7DDC5D7-2D5D-4960-A09B-B4B879DEB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903902632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F6852F5-C16C-4FBB-B913-3B93C09BC6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317792352" name="Дата 3">
            <a:extLst xmlns:a="http://schemas.openxmlformats.org/drawingml/2006/main">
              <a:ext uri="{FF2B5EF4-FFF2-40B4-BE49-F238E27FC236}">
                <a16:creationId xmlns:a16="http://schemas.microsoft.com/office/drawing/2014/main" id="{310B140D-F6C4-4C7B-B71F-93BA1221D9B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D490EE5-ED7D-46E8-8345-A78A0CB0F4A4}" type="datetime1">
              <a:t>16.09.2026</a:t>
            </a:fld>
            <a:endParaRPr/>
          </a:p>
        </p:txBody>
      </p:sp>
      <p:sp>
        <p:nvSpPr>
          <p:cNvPr id="192607067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8D86CB5-5751-4AC6-85C3-CCE910084C7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8248768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8D17FA-B9FB-43AE-8B6D-8DDD312896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60a9222ca4b1a"/>
    <p:sldLayoutId xmlns:r="http://schemas.openxmlformats.org/officeDocument/2006/relationships" id="2147483650" r:id="R31c3bf3bab714ba5"/>
    <p:sldLayoutId xmlns:r="http://schemas.openxmlformats.org/officeDocument/2006/relationships" id="2147483651" r:id="R82ab081c02654f55"/>
    <p:sldLayoutId xmlns:r="http://schemas.openxmlformats.org/officeDocument/2006/relationships" id="2147483652" r:id="R44c284bbe5e3420d"/>
    <p:sldLayoutId xmlns:r="http://schemas.openxmlformats.org/officeDocument/2006/relationships" id="2147483653" r:id="R1ca61cfbe6384402"/>
    <p:sldLayoutId xmlns:r="http://schemas.openxmlformats.org/officeDocument/2006/relationships" id="2147483654" r:id="Re8f7696b92ca43e6"/>
    <p:sldLayoutId xmlns:r="http://schemas.openxmlformats.org/officeDocument/2006/relationships" id="2147483655" r:id="Rcbb44fe289e3452f"/>
    <p:sldLayoutId xmlns:r="http://schemas.openxmlformats.org/officeDocument/2006/relationships" id="2147483656" r:id="R36fb2264972143aa"/>
    <p:sldLayoutId xmlns:r="http://schemas.openxmlformats.org/officeDocument/2006/relationships" id="2147483657" r:id="R026003afd324454e"/>
    <p:sldLayoutId xmlns:r="http://schemas.openxmlformats.org/officeDocument/2006/relationships" id="2147483658" r:id="Rd61777d75f28448a"/>
    <p:sldLayoutId xmlns:r="http://schemas.openxmlformats.org/officeDocument/2006/relationships" id="2147483659" r:id="Rcde62c3704f647a0"/>
    <p:sldLayoutId xmlns:r="http://schemas.openxmlformats.org/officeDocument/2006/relationships" id="2147483660" r:id="Raac657e72df04864"/>
    <p:sldLayoutId xmlns:r="http://schemas.openxmlformats.org/officeDocument/2006/relationships" id="2147483661" r:id="R0b148c15da1d4835"/>
    <p:sldLayoutId xmlns:r="http://schemas.openxmlformats.org/officeDocument/2006/relationships" id="2147483662" r:id="R1e3a083b6779454e"/>
    <p:sldLayoutId xmlns:r="http://schemas.openxmlformats.org/officeDocument/2006/relationships" id="2147483663" r:id="Rc8dae8e9177346ec"/>
    <p:sldLayoutId xmlns:r="http://schemas.openxmlformats.org/officeDocument/2006/relationships" id="2147483664" r:id="R886f839efff9499e"/>
    <p:sldLayoutId xmlns:r="http://schemas.openxmlformats.org/officeDocument/2006/relationships" id="2147483665" r:id="R7598112502f04790"/>
    <p:sldLayoutId xmlns:r="http://schemas.openxmlformats.org/officeDocument/2006/relationships" id="2147483666" r:id="R3001c270bfc14b48"/>
    <p:sldLayoutId xmlns:r="http://schemas.openxmlformats.org/officeDocument/2006/relationships" id="2147483667" r:id="R3e11228676aa409b"/>
    <p:sldLayoutId xmlns:r="http://schemas.openxmlformats.org/officeDocument/2006/relationships" id="2147483668" r:id="Rc0bb12a7efb94696"/>
    <p:sldLayoutId xmlns:r="http://schemas.openxmlformats.org/officeDocument/2006/relationships" id="2147483669" r:id="R818d4e1c4ace455b"/>
    <p:sldLayoutId xmlns:r="http://schemas.openxmlformats.org/officeDocument/2006/relationships" id="2147483670" r:id="R92cf6564c4584877"/>
    <p:sldLayoutId xmlns:r="http://schemas.openxmlformats.org/officeDocument/2006/relationships" id="2147483671" r:id="R1d3160ee99b94c1a"/>
  </p:sldLayoutIdLst>
  <p:hf sldNum="1" hdr="0" ftr="0" dt="0"/>
  <p:txStyles>
    <p:titleStyle>
      <a:lvl1pPr xmlns:a="http://schemas.openxmlformats.org/drawingml/2006/main"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fb33a452d4f4e" /><Relationship Type="http://schemas.openxmlformats.org/officeDocument/2006/relationships/notesSlide" Target="/ppt/notesSlides/notesSlide1.xml" Id="Rea81d894071744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4bcf8fbc83494a" /><Relationship Type="http://schemas.openxmlformats.org/officeDocument/2006/relationships/image" Target="/ppt/media/image3.png" Id="R99dbb663a7d44823" /><Relationship Type="http://schemas.openxmlformats.org/officeDocument/2006/relationships/notesSlide" Target="/ppt/notesSlides/notesSlide2.xml" Id="Rdf5bcca9cde644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1ea2cd8bbd4734" /><Relationship Type="http://schemas.openxmlformats.org/officeDocument/2006/relationships/image" Target="/ppt/media/image.png" Id="R17396525dae94829" /><Relationship Type="http://schemas.openxmlformats.org/officeDocument/2006/relationships/notesSlide" Target="/ppt/notesSlides/notesSlide3.xml" Id="R37df992b019643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7c7074cdac43b1" /><Relationship Type="http://schemas.openxmlformats.org/officeDocument/2006/relationships/image" Target="/ppt/media/image4.png" Id="R15ff9b2ddc32404b" /><Relationship Type="http://schemas.openxmlformats.org/officeDocument/2006/relationships/notesSlide" Target="/ppt/notesSlides/notesSlide4.xml" Id="R337e529f523d45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89ec9376e114c99" /><Relationship Type="http://schemas.openxmlformats.org/officeDocument/2006/relationships/image" Target="/ppt/media/image.png" Id="Rcacbc669d21548ab" /><Relationship Type="http://schemas.openxmlformats.org/officeDocument/2006/relationships/notesSlide" Target="/ppt/notesSlides/notesSlide5.xml" Id="R117a4efc894442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dedf504dd344be7" /><Relationship Type="http://schemas.openxmlformats.org/officeDocument/2006/relationships/notesSlide" Target="/ppt/notesSlides/notesSlide6.xml" Id="R6326ab0d2f7648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0ef95ff30c84546" /><Relationship Type="http://schemas.openxmlformats.org/officeDocument/2006/relationships/notesSlide" Target="/ppt/notesSlides/notesSlide7.xml" Id="R4adbaa2dbb9c44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aa4e7a980dc40a7" /><Relationship Type="http://schemas.openxmlformats.org/officeDocument/2006/relationships/chart" Target="/ppt/slides/charts/chart1.xml" Id="Rac1185a599244186" /><Relationship Type="http://schemas.openxmlformats.org/officeDocument/2006/relationships/notesSlide" Target="/ppt/notesSlides/notesSlide8.xml" Id="R8f0fdf9c8d9944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bc99c70c1284ac0" /><Relationship Type="http://schemas.openxmlformats.org/officeDocument/2006/relationships/notesSlide" Target="/ppt/notesSlides/notesSlide9.xml" Id="R598bd1c04b364f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9ea642ea91a4554" /><Relationship Type="http://schemas.openxmlformats.org/officeDocument/2006/relationships/notesSlide" Target="/ppt/notesSlides/notesSlide10.xml" Id="R8850f868bb9240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02c8ada03a34c67" /><Relationship Type="http://schemas.openxmlformats.org/officeDocument/2006/relationships/notesSlide" Target="/ppt/notesSlides/notesSlide11.xml" Id="Rfe58884b21df4e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7be23cff8ce4236" /><Relationship Type="http://schemas.openxmlformats.org/officeDocument/2006/relationships/notesSlide" Target="/ppt/notesSlides/notesSlide12.xml" Id="R2f14b7980c6c40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2325fdfe98440af" /><Relationship Type="http://schemas.openxmlformats.org/officeDocument/2006/relationships/notesSlide" Target="/ppt/notesSlides/notesSlide13.xml" Id="R2c9ea8fd0d814a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e0f0443ee534f0e" /><Relationship Type="http://schemas.openxmlformats.org/officeDocument/2006/relationships/image" Target="/ppt/media/image5.png" Id="R6e57675371494f93" /><Relationship Type="http://schemas.openxmlformats.org/officeDocument/2006/relationships/image" Target="/ppt/media/image6.png" Id="R7f340b0202294164" /><Relationship Type="http://schemas.openxmlformats.org/officeDocument/2006/relationships/notesSlide" Target="/ppt/notesSlides/notesSlide14.xml" Id="R5b89df6b5ec246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ac10b2432f94c5d" /><Relationship Type="http://schemas.openxmlformats.org/officeDocument/2006/relationships/notesSlide" Target="/ppt/notesSlides/notesSlide15.xml" Id="R0e8443f7c7704c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ae7f23266db4627" /><Relationship Type="http://schemas.openxmlformats.org/officeDocument/2006/relationships/image" Target="/ppt/media/image.jpeg" Id="Rb3605abeca884e33" /><Relationship Type="http://schemas.openxmlformats.org/officeDocument/2006/relationships/notesSlide" Target="/ppt/notesSlides/notesSlide16.xml" Id="R2ecc8bff1a994e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9d64a7a3448476f" /><Relationship Type="http://schemas.openxmlformats.org/officeDocument/2006/relationships/notesSlide" Target="/ppt/notesSlides/notesSlide17.xml" Id="R4192251ff6734c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e2ebaafcc254ca8" /><Relationship Type="http://schemas.openxmlformats.org/officeDocument/2006/relationships/notesSlide" Target="/ppt/notesSlides/notesSlide18.xml" Id="R38ed299b42e0457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Features</c:v>
          </c:tx>
          <c:spPr>
            <a:solidFill xmlns:a="http://schemas.openxmlformats.org/drawingml/2006/main">
              <a:srgbClr val="2E7D5A"/>
            </a:solidFill>
          </c:spPr>
          <c:cat>
            <c:strRef>
              <c:f>'Chart Data'!$A$2:$A$8</c:f>
              <c:strCache>
                <c:ptCount val="7"/>
                <c:pt idx="0">
                  <c:v>Кабель</c:v>
                </c:pt>
                <c:pt idx="1">
                  <c:v>Вода</c:v>
                </c:pt>
                <c:pt idx="2">
                  <c:v>Дорога</c:v>
                </c:pt>
                <c:pt idx="3">
                  <c:v>Газ</c:v>
                </c:pt>
                <c:pt idx="4">
                  <c:v>Канализация</c:v>
                </c:pt>
                <c:pt idx="5">
                  <c:v>Теплосеть</c:v>
                </c:pt>
                <c:pt idx="6">
                  <c:v>Здания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8186</c:v>
                </c:pt>
                <c:pt idx="1">
                  <c:v>6078</c:v>
                </c:pt>
                <c:pt idx="2">
                  <c:v>5643</c:v>
                </c:pt>
                <c:pt idx="3">
                  <c:v>4544</c:v>
                </c:pt>
                <c:pt idx="4">
                  <c:v>1432</c:v>
                </c:pt>
                <c:pt idx="5">
                  <c:v>1241</c:v>
                </c:pt>
                <c:pt idx="6">
                  <c:v>1341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C1D22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D7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0199916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7E50BA9B-A344-491D-BF28-9761EAFCAF4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t>GreenCAD</a:t>
            </a:r>
            <a:endParaRPr sz="4800"/>
          </a:p>
        </p:txBody>
      </p:sp>
      <p:sp>
        <p:nvSpPr>
          <p:cNvPr id="1636791008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233DAD44-16FF-4287-A555-9C7C1980353D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757351073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14E10A2D-8E12-4C5B-8D32-5BBFFC655BCD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268288">
              <a:buNone/>
            </a:pPr>
            <a:r>
              <a:t>Команда «Не работаем с утками» · кейс ДПиООС Москвы</a:t>
            </a:r>
            <a:endParaRPr/>
          </a:p>
          <a:p xmlns:a="http://schemas.openxmlformats.org/drawingml/2006/main">
            <a:pPr indent="268288">
              <a:buNone/>
            </a:pPr>
            <a:r>
              <a:t>Автоматическое проектирование озеленения: DXF → расчёт → DXF</a:t>
            </a:r>
            <a:endParaRPr/>
          </a:p>
        </p:txBody>
      </p:sp>
      <p:sp>
        <p:nvSpPr>
          <p:cNvPr id="1091804844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BC10562B-9AB5-4DC1-A3A0-64A9A803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760026"/>
      </p:ext>
    </p:extLst>
  </p:cSld>
</p:sld>
</file>

<file path=ppt/slides/slide2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99dbb663a7d44823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6098921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AA37CE3-C990-44FF-924B-DA426682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09484257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3DFD1D61-5381-46B1-931C-DF6F58D2EB9B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335267"/>
            <a:ext cx="6456363" cy="2971784"/>
          </a:xfrm>
        </p:spPr>
      </p:sp>
      <p:sp>
        <p:nvSpPr>
          <p:cNvPr id="114360025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9042374-37D4-41F4-9B94-3E101096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F96D7E4-6EC7-413F-A31A-0321CF7B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Независимые Generator и Validator, неизменность исходных CAD-слоёв и проверяемая цепочка «посадка → НПА → пункт → расстояние».</a:t>
            </a:r>
            <a:endParaRPr/>
          </a:p>
        </p:txBody>
      </p:sp>
      <p:sp>
        <p:nvSpPr>
          <p:cNvPr id="66111978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CE19C69-7903-42E5-AD64-0CB82A75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Капитан: </a:t>
            </a:r>
            <a:r>
              <a:rPr>
                <a:solidFill>
                  <a:schemeClr val="tx1"/>
                </a:solidFill>
              </a:rPr>
              <a:t>Данько Дмитрий Игоревич, алгоритмы / CAD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Кол-во участников: </a:t>
            </a:r>
            <a:r>
              <a:rPr>
                <a:solidFill>
                  <a:schemeClr val="tx1"/>
                </a:solidFill>
              </a:rPr>
              <a:t>2 человека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Краткое описание: 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Как образовалась: команда РУДН для участия в ЛЦТ 2026</a:t>
            </a:r>
            <a:r>
              <a:rPr i="1">
                <a:solidFill>
                  <a:schemeClr val="tx1"/>
                </a:solidFill>
              </a:rPr>
              <a:t> 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Место работы/учёбы: РУДН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Город и регион: Москва</a:t>
            </a:r>
            <a:endParaRPr/>
          </a:p>
        </p:txBody>
      </p:sp>
      <p:sp>
        <p:nvSpPr>
          <p:cNvPr id="64812152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0F87B364-8B55-4DE6-ACA4-EE926EF1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CCFD5549-F26A-4396-8456-BF7E794267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GREENCAD</a:t>
            </a:r>
            <a:endParaRPr sz="2400">
              <a:solidFill>
                <a:schemeClr val="accent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78954076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3FE595BB-131B-47F2-8555-4881C05C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216552124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D84326D7-04BD-4D94-831C-CA52905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331184900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404447C8-682B-4F54-A7C5-D710A26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50361934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03243724-F97F-4F30-B343-F80035C4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750B18-D198-41DC-A1C2-125ACDC0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GreenCAD строит план деревьев и кустарников по DXF, проверяет нормативные отступы и возвращает результат на отдельных слоях.</a:t>
            </a:r>
            <a:endParaRPr/>
          </a:p>
        </p:txBody>
      </p:sp>
      <p:sp>
        <p:nvSpPr>
          <p:cNvPr id="2108767591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22160621-1584-4F4A-897E-944C59D0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lvl1pPr marL="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E2598689-54C9-18A7-3A19-ED76AA08988F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613891"/>
      </p:ext>
    </p:extLst>
  </p:cSld>
</p:sld>
</file>

<file path=ppt/slides/slide3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17396525dae94829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9445992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8BD95BAB-8BB3-4950-8281-98D5C59D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1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9022345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AF5E037-3D94-4EA4-801E-4B978613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Дизайн баннеров</a:t>
            </a:r>
            <a:endParaRPr/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РУДН</a:t>
            </a:r>
            <a:endParaRPr/>
          </a:p>
        </p:txBody>
      </p:sp>
      <p:sp>
        <p:nvSpPr>
          <p:cNvPr id="125974380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EEA0D728-440C-4FB4-A97D-4AC54B60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Пупчин Сергей</a:t>
            </a:r>
            <a:endParaRPr/>
          </a:p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Константинович</a:t>
            </a:r>
            <a:endParaRPr/>
          </a:p>
        </p:txBody>
      </p:sp>
      <p:sp>
        <p:nvSpPr>
          <p:cNvPr id="481545546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69F5423A-FC72-4A91-B918-C939AEAE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1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5118BC27-2F51-4E41-A51B-AE5DB23D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4810125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CF67A0A0-FD50-4FD0-8463-A0632A2CBAF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172799835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0CB24B2D-1E96-4F66-991C-275796821557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81397" y="1816054"/>
            <a:ext cx="1722566" cy="1552901"/>
          </a:xfrm>
        </p:spPr>
      </p:sp>
      <p:sp>
        <p:nvSpPr>
          <p:cNvPr id="28894974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037BFF88-582A-4FED-A82A-18250D99569C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2886467" y="1826554"/>
            <a:ext cx="1722566" cy="1542401"/>
          </a:xfrm>
        </p:spPr>
      </p:sp>
      <p:sp>
        <p:nvSpPr>
          <p:cNvPr id="41504290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29BF9152-A650-4173-B6D0-34755DBF8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КОМАНДА «НЕ РАБОТАЕМ С УТКАМИ»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105846267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1C3872E-1371-441B-A20C-386C8F221648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Капитан; алгоритм, backend/CAD</a:t>
            </a:r>
            <a:endParaRPr/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@dankodmitry</a:t>
            </a:r>
            <a:endParaRPr/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ddigorev@gmail.com</a:t>
            </a:r>
            <a:endParaRPr/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РУДН</a:t>
            </a:r>
            <a:endParaRPr/>
          </a:p>
        </p:txBody>
      </p:sp>
      <p:sp>
        <p:nvSpPr>
          <p:cNvPr id="127875066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2037CB0-0F93-4089-B10B-6F0A3A89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Данько Дмитрий</a:t>
            </a:r>
            <a:endParaRPr/>
          </a:p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Игоревич</a:t>
            </a:r>
            <a:endParaRPr/>
          </a:p>
        </p:txBody>
      </p:sp>
      <p:sp>
        <p:nvSpPr>
          <p:cNvPr id="1919445993" name="">
            <a:extLst xmlns:a="http://schemas.openxmlformats.org/drawingml/2006/main">
              <a:ext uri="{FF2B5EF4-FFF2-40B4-BE49-F238E27FC236}">
                <a16:creationId xmlns:a16="http://schemas.microsoft.com/office/drawing/2014/main" id="{D8F9DE09-D502-4A51-9484-EEAE003C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478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3"/>
          </a:solidFill>
          <a:ln xmlns:a="http://schemas.openxmlformats.org/drawingml/2006/main" w="19050">
            <a:solidFill>
              <a:srgbClr val="2E7D5A"/>
            </a:solidFill>
          </a:ln>
        </p:spPr>
      </p:sp>
      <p:sp>
        <p:nvSpPr>
          <p:cNvPr id="1919445994" name="">
            <a:extLst xmlns:a="http://schemas.openxmlformats.org/drawingml/2006/main">
              <a:ext uri="{FF2B5EF4-FFF2-40B4-BE49-F238E27FC236}">
                <a16:creationId xmlns:a16="http://schemas.microsoft.com/office/drawing/2014/main" id="{FEEB4581-6EAC-49CF-9E7B-B7DB1335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57400"/>
            <a:ext cx="99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ДД</a:t>
            </a:r>
          </a:p>
        </p:txBody>
      </p:sp>
      <p:sp>
        <p:nvSpPr>
          <p:cNvPr id="1919445995" name="">
            <a:extLst xmlns:a="http://schemas.openxmlformats.org/drawingml/2006/main">
              <a:ext uri="{FF2B5EF4-FFF2-40B4-BE49-F238E27FC236}">
                <a16:creationId xmlns:a16="http://schemas.microsoft.com/office/drawing/2014/main" id="{E9683CDA-94AF-403A-B374-EDBDD474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478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E4"/>
          </a:solidFill>
          <a:ln xmlns:a="http://schemas.openxmlformats.org/drawingml/2006/main" w="19050">
            <a:solidFill>
              <a:srgbClr val="FF0053"/>
            </a:solidFill>
          </a:ln>
        </p:spPr>
      </p:sp>
      <p:sp>
        <p:nvSpPr>
          <p:cNvPr id="1919445996" name="">
            <a:extLst xmlns:a="http://schemas.openxmlformats.org/drawingml/2006/main">
              <a:ext uri="{FF2B5EF4-FFF2-40B4-BE49-F238E27FC236}">
                <a16:creationId xmlns:a16="http://schemas.microsoft.com/office/drawing/2014/main" id="{47A86491-6C57-456B-87EC-A970770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57400"/>
            <a:ext cx="99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ПС</a:t>
            </a:r>
          </a:p>
        </p:txBody>
      </p:sp>
    </p:spTree>
    <p:extLst>
      <p:ext uri="{BB962C8B-B14F-4D97-AF65-F5344CB8AC3E}">
        <p14:creationId xmlns:p14="http://schemas.microsoft.com/office/powerpoint/2010/main" val="1489990500"/>
      </p:ext>
    </p:extLst>
  </p:cSld>
</p:sld>
</file>

<file path=ppt/slides/slide4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15ff9b2ddc32404b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1463204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A2A5ABF1-11CD-4614-9EBE-7733F633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4C1D4890-B401-472B-96CA-C23C035197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865297653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BB9FF3DD-9896-4A08-8DAC-F3DDA6CBD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 КОМАНДЕ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158889012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48E59A8-FE93-4A3D-B65F-F2593D124F33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Команда из двух участников РУДН собралась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для ЛЦТ 2026. Техническую часть ведёт капитан,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визуальные материалы готовит второй участник.</a:t>
            </a:r>
            <a:endParaRPr/>
          </a:p>
        </p:txBody>
      </p:sp>
      <p:sp>
        <p:nvSpPr>
          <p:cNvPr id="49392139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BAE3B40-2310-44C9-AA59-61A782CE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CA785EC-62C5-4419-BA0B-9EB2324F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Главный вызов: неоднородные архивы подрядчиков, DWG, XREF, дубли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и геометрия без единой семантики. В работе мы старались выстроить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воспроизводимый путь к DXF, явное сопоставление слоёв и проверки.</a:t>
            </a:r>
            <a:endParaRPr/>
          </a:p>
        </p:txBody>
      </p:sp>
      <p:sp>
        <p:nvSpPr>
          <p:cNvPr id="76550796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6BD8219-1E7F-4AA4-9D4C-AEDEDFE2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Главный вызов и решение</a:t>
            </a:r>
            <a:endParaRPr/>
          </a:p>
        </p:txBody>
      </p:sp>
      <p:sp>
        <p:nvSpPr>
          <p:cNvPr id="157444024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32559D3-7C95-4A16-96A3-361584D3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Нас заинтересовал прикладной городской кейс. Автоматизация CAD-проверок может сократить ручную работу и сделать проектные решения воспроизводимыми.</a:t>
            </a:r>
            <a:endParaRPr/>
          </a:p>
        </p:txBody>
      </p:sp>
      <p:sp>
        <p:nvSpPr>
          <p:cNvPr id="179046958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1609CF5-2DD4-435B-A9C8-1600886C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мы выбрали эту задачу?</a:t>
            </a:r>
            <a:endParaRPr/>
          </a:p>
        </p:txBody>
      </p:sp>
      <p:sp>
        <p:nvSpPr>
          <p:cNvPr id="1125078722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0006F5D8-3D75-4C87-B22E-E52FF4CC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0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01438399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BD051B02-45A9-4D26-AE1C-AF8083E4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854362844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523766A8-27B9-4F1D-AA73-3A8C0B99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724597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4D3418-ABA7-4A7B-8DC5-3F158CCF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246D1164-FBBD-4949-B108-082678B9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058663E-CC3C-4DD4-8C28-990048C7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9022767"/>
      </p:ext>
    </p:extLst>
  </p:cSld>
</p:sld>
</file>

<file path=ppt/slides/slide5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cacbc669d21548ab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4634285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77633E01-A253-41C8-BFEE-E59A9BAC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1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E0F55CEF-B9A8-425E-80FF-ED1789E5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35DD71F2-6334-4A80-A393-A4CBA0A1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AB1D0BC4-D01C-476C-90E0-C64191FBD9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78218181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C24D8A62-6BFF-4401-9C10-E8B9C033BFDB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2" y="1920927"/>
            <a:ext cx="4929861" cy="3868581"/>
          </a:xfrm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Подготовленный DXF → semantic mapping → правила → допустимость → layout → Validator.</a:t>
            </a:r>
            <a:endParaRPr/>
          </a:p>
          <a:p xmlns:a="http://schemas.openxmlformats.org/drawingml/2006/main">
            <a:pPr>
              <a:buNone/>
            </a:pPr>
            <a:r>
              <a:rPr sz="1400">
                <a:solidFill>
                  <a:schemeClr val="tx1"/>
                </a:solidFill>
              </a:rPr>
              <a:t/>
            </a:r>
            <a:endParaRPr/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Исходные слои сохраняются, результат записывается на отдельных слоях.</a:t>
            </a:r>
            <a:endParaRPr/>
          </a:p>
          <a:p xmlns:a="http://schemas.openxmlformats.org/drawingml/2006/main">
            <a:pPr>
              <a:buNone/>
            </a:pPr>
            <a:r>
              <a:rPr sz="1400">
                <a:solidFill>
                  <a:schemeClr val="tx1"/>
                </a:solidFill>
              </a:rPr>
              <a:t/>
            </a:r>
            <a:endParaRPr/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Каждая точка получает объяснение со ссылкой на НПА и измеренным расстоянием.</a:t>
            </a:r>
            <a:endParaRPr/>
          </a:p>
        </p:txBody>
      </p:sp>
      <p:sp>
        <p:nvSpPr>
          <p:cNvPr id="32165555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866A609-E3CA-4DC9-A558-2C9F80F21652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Снижение объёма ручных проверок и повышение воспроизводимости.</a:t>
            </a:r>
            <a:endParaRPr/>
          </a:p>
          <a:p xmlns:a="http://schemas.openxmlformats.org/drawingml/2006/main">
            <a:pPr marL="0" indent="0">
              <a:buNone/>
            </a:pPr>
            <a:r>
              <a:t/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Пользователи: ДПиООС и проектировщики благоустройства.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</a:pPr>
            <a:r>
              <a:t/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Docker/Linux; новые объекты подключаются через mapping слоёв и версионированные профили правил.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607500153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43C3049-5933-44E9-997B-8E7AED33F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КОРОТКО О РЕШЕНИИ</a:t>
            </a:r>
            <a:endParaRPr/>
          </a:p>
        </p:txBody>
      </p:sp>
      <p:sp>
        <p:nvSpPr>
          <p:cNvPr id="2139836321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66F56941-3052-4660-BA79-53AD3F3D8C41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1137B1A9-34FB-41D7-934B-AB6530DB44A3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770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ADC68-AA6C-4629-A41F-714FCF28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095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6D503-B419-49EB-91C8-2D07382C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ПРОБЛЕМА И ЦЕННОСТЬ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79176-B381-47C3-BD62-53190465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B2179-06F6-4929-AA37-E7645DC3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048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75163-267B-4F9B-B710-A56BC21B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52550"/>
            <a:ext cx="57340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E20BC-EB85-468D-8392-6B7380D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Сегодня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18868-2AEE-46FB-B3C2-89126150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381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Проектировщик вручную проверяет отступы от сетей и городской среды. Неоднородные CAD-слои, XREF и разные версии файлов делают результат зависимым от опыта конкретного специалиста.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190FA-1504-4157-8298-A16343E3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B84C43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B84C43"/>
                </a:solidFill>
                <a:latin typeface="Montserrat"/>
                <a:ea typeface="Montserrat"/>
                <a:cs typeface="Montserrat"/>
              </a:rPr>
              <a:t>Риск: долго, трудно повторить и трудно проверить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7F308-E10D-45C0-9B56-4042FC6B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GreenCAD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2F5E7-05B1-4B4A-A1A7-6909D805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5048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Переводит проверку расстояний в воспроизводимый расчёт, предлагает деревья и кустарники, независимо проверяет результат и возвращает DXF без изменения исходных слоёв.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87A55-2D16-4D30-86BF-9C06A6F3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Ценность: скорость + проверяемость + привычный CAD-формат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CE850-B8D9-44B4-BB3C-39EF87BE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00700"/>
            <a:ext cx="8610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4F0E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232CD-E73D-43EF-97CA-C1C35C5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91200"/>
            <a:ext cx="807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Автоматизация снимает рутину, но не подменяет инженерное согласование.</a:t>
            </a:r>
          </a:p>
        </p:txBody>
      </p:sp>
    </p:spTree>
    <p:extLst>
      <p:ext uri="{BB962C8B-B14F-4D97-AF65-F5344CB8AC3E}">
        <p14:creationId xmlns:p14="http://schemas.microsoft.com/office/powerpoint/2010/main" val="6058678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893FD1-133A-4F4F-9126-0E33336D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476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91908-0721-419B-A152-5847D859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13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АРХИТЕКТУРА: DXF → DXF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0A10B-28A5-4108-8797-473EEAED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2C682-07A3-4764-BA2E-C6899B9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4E542-50C2-4D27-989D-CC6D42D5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257300" cy="1581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1F7"/>
          </a:solidFill>
          <a:ln xmlns:a="http://schemas.openxmlformats.org/drawingml/2006/main" w="9525">
            <a:solidFill>
              <a:srgbClr val="DDD7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ADFA5-6052-456A-9607-69955342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DXF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9E731-7E6F-4991-B373-1DCA0CFD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байты, единицы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7A61A-26EF-4DC7-8E14-9CC4AC1C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718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AFCA3-DD0E-4217-AF70-E409E76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66950"/>
            <a:ext cx="1257300" cy="1581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1F7"/>
          </a:solidFill>
          <a:ln xmlns:a="http://schemas.openxmlformats.org/drawingml/2006/main" w="9525">
            <a:solidFill>
              <a:srgbClr val="DDD7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5BBA4-9444-4DB3-AA46-66CA97D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765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E798F-4AAE-42D0-A43A-AC6708C0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990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CAD → semantic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F6028-3ACE-4AF7-A69E-7D0EED6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718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27577-E1AB-4E4E-A908-95ADF64B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66950"/>
            <a:ext cx="1257300" cy="1581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1F7"/>
          </a:solidFill>
          <a:ln xmlns:a="http://schemas.openxmlformats.org/drawingml/2006/main" w="9525">
            <a:solidFill>
              <a:srgbClr val="DDD7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AF84E-4605-48FC-805F-4258DACC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CAECF-5138-4CAD-826E-FB04B32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0990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НПА и версии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4D81F-C342-4943-8359-25591ED6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718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4C08D-F781-4FA3-A46B-C4303931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66950"/>
            <a:ext cx="1257300" cy="1581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4F0E3"/>
          </a:solidFill>
          <a:ln xmlns:a="http://schemas.openxmlformats.org/drawingml/2006/main" w="9525">
            <a:solidFill>
              <a:srgbClr val="DDD7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76A2A-D649-4678-B65E-69224DC1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Admissibility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E96FB-0483-4265-95AB-082024AF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допустимые виды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1DFF6-A54E-4A42-8C81-E10E9924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ABA13-753E-40C8-9D34-B0C60146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1257300" cy="1581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1F7"/>
          </a:solidFill>
          <a:ln xmlns:a="http://schemas.openxmlformats.org/drawingml/2006/main" w="9525">
            <a:solidFill>
              <a:srgbClr val="DDD7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6D08D-4558-4207-88E0-A1ADEA56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Layout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F249A-3165-4903-9B40-7BC07C85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0990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spacing, priority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16D4B-3C5C-4891-8EBD-FB94FD34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6E832-4CEB-4E4A-8265-5AAAD33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1257300" cy="1581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10F53"/>
          </a:solidFill>
          <a:ln xmlns:a="http://schemas.openxmlformats.org/drawingml/2006/main" w="9525">
            <a:solidFill>
              <a:srgbClr val="DDD7E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10509A-7274-4350-89BF-02B83EB7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Validator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D73502-00D6-445B-AC28-EA786FED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повторный аудит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3BA88A-377F-4B0A-A3B8-9E170ADC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718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21A82-3136-4F6D-8D3D-7B3E0645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66950"/>
            <a:ext cx="1257300" cy="1581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1F7"/>
          </a:solidFill>
          <a:ln xmlns:a="http://schemas.openxmlformats.org/drawingml/2006/main" w="9525">
            <a:solidFill>
              <a:srgbClr val="DDD7E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EB6E6B-C608-4D90-B9CA-92757830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765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Artifacts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262E27-6C80-450C-BC5A-6FAB885C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0990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DXF + отчёты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C7443D-DC94-4AC0-9915-2FBD84D8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05450"/>
            <a:ext cx="941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6E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385A95-9621-4241-B4BA-1EDE0B0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95950"/>
            <a:ext cx="880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Исходные слои остаются в документе; GreenCAD добавляет только собственные сущности.</a:t>
            </a:r>
          </a:p>
        </p:txBody>
      </p:sp>
    </p:spTree>
    <p:extLst>
      <p:ext uri="{BB962C8B-B14F-4D97-AF65-F5344CB8AC3E}">
        <p14:creationId xmlns:p14="http://schemas.microsoft.com/office/powerpoint/2010/main" val="7868948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27AB2-993F-4A0A-A123-7614B700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143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1B350-60CB-4A01-9E20-828244F1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РЕАЛЬНЫЙ ВХОД: 3-Я ПАРКОВАЯ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51192-7681-4C44-A489-7AACA41D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20832-C60A-4C97-ACB2-DDEDEC68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3086100" cy="47625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26F1F-CCEC-4308-BEB2-5EB7C591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385,5 МБ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39DFB-5E1C-4613-93EB-7F4DA3A6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подготовленный конкурсный DXF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5AFA9-F5F4-4ECD-B61E-F10E5F60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1 101 680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FDB3C-43C5-4E71-8873-FDBFD1DA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effective entities после раскрытия блоков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1FDE9-034C-4329-A385-9AF37ADC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28 470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D65D4-0FA3-4C9A-A326-BD87B1CA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геометрических features в расчёте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5048B-12C0-47B0-9E39-2DF0777B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8 144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FC6AA-134D-4289-AFB4-D69DB548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линий-выносок доказанно исключены из расчёта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BA8BF-DCB9-4688-9F77-93D3FA6C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52550"/>
            <a:ext cx="7772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286250" y="1771650"/>
          <a:ext xmlns:a="http://schemas.openxmlformats.org/drawingml/2006/main" cx="6953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1185a599244186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60BEC-D1DE-4A85-BA16-9B0F5F87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2450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SITE: 93 251,9 м² · 8 semantic-слоёв · 2 036 групп выносок · preflight PASS</a:t>
            </a:r>
          </a:p>
        </p:txBody>
      </p:sp>
    </p:spTree>
    <p:extLst>
      <p:ext uri="{BB962C8B-B14F-4D97-AF65-F5344CB8AC3E}">
        <p14:creationId xmlns:p14="http://schemas.microsoft.com/office/powerpoint/2010/main" val="543531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2B9BD-3A99-4B35-AB03-228543AF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000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EFFCE-BE5D-472E-A043-797759C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65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НОРМАТИВНАЯ ЛОГИКА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CF9A7-9C19-4811-874B-1D6F490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6B450-B06E-46B4-8FE1-90406A1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81050" y="1657350"/>
          <a:ext xmlns:a="http://schemas.openxmlformats.org/drawingml/2006/main" cx="106299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619250"/>
                <a:gridCol w="1809750"/>
                <a:gridCol w="4438650"/>
              </a:tblGrid>
              <a:tr h="476250">
                <a:tc>
                  <a:txBody>
                    <a:bodyPr/>
                    <a:lstStyle/>
                    <a:p>
                      <a:r>
                        <a:t>Объект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Дерево, 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Кустарник, 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Строка нормы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Стена здания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5,0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Наружная стена здания и сооружения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Край дороги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Край проезжей части / обочины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Газ и канализация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Подземные сети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Теплосеть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Подземные сети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Водопровод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Подземные сети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Силовой кабель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Подземные сети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46BBB-CFFB-421B-8161-ACBB6684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СП 42.13330.2016: п. 9.6, таблица 9.1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F96C8-A161-477F-917E-66BD0644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3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743-ПП: п. 3.6.3, таблица 3.6.1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9D1D7-6192-4354-B41F-B5DD54CD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Нормативные профили версионируются и проверяются независимо; значения не придумываются кодом.</a:t>
            </a:r>
          </a:p>
        </p:txBody>
      </p:sp>
    </p:spTree>
    <p:extLst>
      <p:ext uri="{BB962C8B-B14F-4D97-AF65-F5344CB8AC3E}">
        <p14:creationId xmlns:p14="http://schemas.microsoft.com/office/powerpoint/2010/main" val="7425863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71A73B-7103-4D70-84D1-F0A5F6D0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143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8D92D-BD9F-49BF-955F-A0663B1E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АЛГОРИТМ ПРИНЯТИЯ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87391-D970-467F-B0E1-F2EADDDA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50F4F-8A89-4696-B8AB-FC625E89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3CB2D-7A1B-4E65-AB4B-858B17C5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4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10 395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27290-7575-4202-BBA7-F47F49DF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точек сетки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с шагом 3 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76054-DBA1-4F8E-92C8-0FCA95E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1C1F5-3196-4362-AA98-8A7AF553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9CFE9-AD1A-4B2D-AAD8-6562F7CC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717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4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20 790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F0703-C6CB-4D02-8685-FAEA7490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718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пар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точка + вид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048A3-9C81-43C0-816E-0677638E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813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201B3-2D29-439B-A1EA-D39EAAD4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5C054-4684-47F2-BF1F-FE814F16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4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11 336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97F00-22EC-4377-B15E-A8A92CBE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допустимых пар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после правил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80295-4626-486A-ACD5-1F908707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FD5C2-A928-4D90-912D-E83E384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47850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4F0E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CDE48-68B5-48F2-AAA4-11DE4D86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34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520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B0B9E-CDD2-4237-B7C7-6B51CAC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посадок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после 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642C6-49D6-42D3-8868-5B874764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4857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F9790-E1AA-426F-A2D3-FD533E3A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Статические правила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3362E-ABED-4D5B-AF44-639C0E3B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удаляют невозможные пары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02B9A-1E82-4E02-B3CE-26645227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57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407B2-EFD8-4AFD-87A8-888696FB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2440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Layout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7684F-82F9-4FB2-9790-34305E63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4350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выбирает композицию только среди допустимых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2BB39-8E7B-4657-8724-707D7711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436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deterministic multi-start · порядок yx · 120 деревьев · 400 кустарников</a:t>
            </a:r>
          </a:p>
        </p:txBody>
      </p:sp>
    </p:spTree>
    <p:extLst>
      <p:ext uri="{BB962C8B-B14F-4D97-AF65-F5344CB8AC3E}">
        <p14:creationId xmlns:p14="http://schemas.microsoft.com/office/powerpoint/2010/main" val="6382141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977B6-DEF7-4F6F-98D0-0B547DBB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61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E6CA6-B098-44B5-ACA5-5A823803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GENERATOR И VALIDATOR РАЗДЕЛЕНЫ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0D983-096F-4018-844E-16F75D34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18558-91A4-43C4-AD22-781142A8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609850" cy="37147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012E0-F379-4976-B42F-B0521667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Общие входы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CB407-15FA-4E81-B831-98110F9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076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геометрия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виды растений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нормативные профили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spacing config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4C84F-3790-498F-B9F8-337E7042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28900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3CC84-2D46-4556-AFFB-92B2819B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B976D-0487-4842-95E9-91955E97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2100"/>
            <a:ext cx="4019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4F0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BF8E1-6D55-4B78-A9A2-D81E7BC2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Generator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3EE13-7BBF-4D94-AEB5-CB928D1E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Prepared buffers и deterministic multi-start формируют кандидатов на посадку.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9FBB8-58E9-4570-9F17-A678DC0C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62350"/>
            <a:ext cx="4019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310F5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08CA8-53FF-404D-91ED-389BA8B8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Validator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61C10-7FD3-463B-9EC1-14116122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Повторно считает прямые расстояния и интервалы после Generator.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3FF57-6BFD-491A-882F-01956547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74FCB-A81A-43FE-841C-283C2B0F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61010-458D-4152-9869-9F55BB62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FF429-941B-4568-9806-22158E7D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89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EC96D-1768-4804-BE56-9DCF60B4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 ошибок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647E6-74B3-499A-82F3-7CCE93B0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14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по статическим правилам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A375A-1FBD-40B3-BEAB-E56FEEB4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719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 ошибок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74D81-1713-44B8-9210-A1C4A92F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481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по интервалам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89E81B-A4CF-4B80-B671-C2B178B2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3405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D6E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E34D1-DE2F-462E-A7A5-EF24A238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86740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Validator не доверяет маске Generator — он повторяет проверку независимо.</a:t>
            </a:r>
          </a:p>
        </p:txBody>
      </p:sp>
    </p:spTree>
    <p:extLst>
      <p:ext uri="{BB962C8B-B14F-4D97-AF65-F5344CB8AC3E}">
        <p14:creationId xmlns:p14="http://schemas.microsoft.com/office/powerpoint/2010/main" val="9689537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3111F-FF15-4059-B32F-5C9F3A18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857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4788A-7C8C-4636-95BE-1EFF93F3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ИСХОДНЫЕ СЛОИ СОХРАНЕНЫ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29ECE-244B-4EF6-A101-31E7AF89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2ECF6-FEAF-43A0-9488-DFE2D756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00100" y="1619250"/>
          <a:ext xmlns:a="http://schemas.openxmlformats.org/drawingml/2006/main" cx="10591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0100"/>
                <a:gridCol w="2476500"/>
                <a:gridCol w="3505200"/>
              </a:tblGrid>
              <a:tr h="489857">
                <a:tc>
                  <a:txBody>
                    <a:bodyPr/>
                    <a:lstStyle/>
                    <a:p>
                      <a:r>
                        <a:t>Контроль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Вход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Результат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Исходные modelspace entities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5 858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5 858 без изменений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Отсутствующие исходные entities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Изменённые CAD-атрибуты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GREEN_AI_TREE_PROPOSED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нет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120 CIRCLE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GREEN_AI_SHRUB_PROPOSED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нет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400 CIRCLE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Новые repair-сообщения audit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3 298 в исходнике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 новых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F1DC6-2C03-4697-8140-1368118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9296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4F0E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C1445-4C52-45EB-A28E-184BBC6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57825"/>
            <a:ext cx="887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Каждая новая сущность помечена XDATA GREENCAD и может быть заменена при повторном запуске.</a:t>
            </a:r>
          </a:p>
        </p:txBody>
      </p:sp>
    </p:spTree>
    <p:extLst>
      <p:ext uri="{BB962C8B-B14F-4D97-AF65-F5344CB8AC3E}">
        <p14:creationId xmlns:p14="http://schemas.microsoft.com/office/powerpoint/2010/main" val="3938892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7AAF7-89E3-4927-A73A-F181D7AE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095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05316-D205-4C2D-8147-3CA800C2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ИНТЕРПРЕТИРУЕМОСТЬ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A6C1C-20EF-47B0-A76A-E0CD6B14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13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A9990-0D8D-4933-A488-CB2F4B4D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52578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5DDAF-DEB7-41D4-97D4-C603ED55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90650"/>
            <a:ext cx="55626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6FA40-B78D-4FE7-BA67-D6EA8B7E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5257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D8125-725E-40D5-9EFD-E8B007B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90650"/>
            <a:ext cx="5562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48F05-C74C-49D8-BD19-44B76824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ПРИНЯТАЯ ПОСАДКА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6AC2C-35A7-470F-8CD7-E6D8D6B2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811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ОТКЛОНЁННАЯ ПОСАДКА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E86AF-4056-4E2C-9F08-3DCD306F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0,7085 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38A93-576F-46E2-A8D1-E306B5C3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431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≥ 0,7 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5F06E-8BE9-45B9-9DDE-EC3B9440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22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candidate 107 · кустарник · силовой кабель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3A651-9E60-4C30-9C6A-1442A8E2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0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C456A-D2B1-44BD-9F2A-9185C97C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СП 42.13330.2016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п. 9.6, таблица 9.1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B9B88-AB66-43F3-920B-800162E4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actual_distance и required_distance сохранены в explanations.json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74A18-AB3F-4B39-A559-4A23B515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B84C43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B84C43"/>
                </a:solidFill>
                <a:latin typeface="Montserrat"/>
                <a:ea typeface="Montserrat"/>
                <a:cs typeface="Montserrat"/>
              </a:rPr>
              <a:t>0,3507 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4CAC2-AFC8-497F-8C4D-C141924D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&lt; 2,0 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DA369-97EF-4702-BE68-D50A76CB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candidate 6985 · дерево · силовой кабель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5D67F-6EDA-40A3-BE8C-9D13346A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0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B84C43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B84C43"/>
                </a:solidFill>
                <a:latin typeface="Montserrat"/>
                <a:ea typeface="Montserrat"/>
                <a:cs typeface="Montserrat"/>
              </a:rPr>
              <a:t>REJECT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B38DE-0E70-4EF0-BBEB-7FE80EBB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Нормативные отказы и композиционные пропуски хранятся раздельно.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55487-3EE2-4E87-912B-24AA7EC8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816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0 необъяснённых layout-пропусков</a:t>
            </a:r>
          </a:p>
        </p:txBody>
      </p:sp>
    </p:spTree>
    <p:extLst>
      <p:ext uri="{BB962C8B-B14F-4D97-AF65-F5344CB8AC3E}">
        <p14:creationId xmlns:p14="http://schemas.microsoft.com/office/powerpoint/2010/main" val="19230499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6C7C7-241D-462E-B392-63469F69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76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747EA-2A42-4743-A5E2-23C8A81E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РЕАЛЬНЫЙ DXF: ДО / ПОСЛЕ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0E20F-34C4-4100-BEB8-3C8BF9DB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D6D51-A8F7-476B-A601-BA71718B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2578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B81B5-A10D-457E-84C9-416435D3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52550"/>
            <a:ext cx="55626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43794-E1B9-4609-9FA1-0B673788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20AF7-E1F9-4D0D-AEED-8C4246A3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81150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ПОСЛЕ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7675371494f93"/>
          <a:stretch xmlns:a="http://schemas.openxmlformats.org/drawingml/2006/main"/>
        </p:blipFill>
        <p:spPr>
          <a:xfrm xmlns:a="http://schemas.openxmlformats.org/drawingml/2006/main">
            <a:off x="2138948" y="2000250"/>
            <a:ext cx="2084804" cy="32385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40b0202294164"/>
          <a:stretch xmlns:a="http://schemas.openxmlformats.org/drawingml/2006/main"/>
        </p:blipFill>
        <p:spPr>
          <a:xfrm xmlns:a="http://schemas.openxmlformats.org/drawingml/2006/main">
            <a:off x="7815848" y="2000250"/>
            <a:ext cx="2084804" cy="3238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FC68B-3CFD-4EA4-A3C0-C7AC572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1 738 исходных сущностей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D0EE4-E594-430E-BF12-87A9AEA1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14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+120 деревьев · +400 кустарников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ED030-A6FF-4AA5-A390-52E1474D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81700"/>
            <a:ext cx="82677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F0E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FFEAF-A80B-44FA-906D-B2B4D497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48375"/>
            <a:ext cx="792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Одинаковый масштаб · исходная геометрия не изменена · результат на двух новых слоях</a:t>
            </a:r>
          </a:p>
        </p:txBody>
      </p:sp>
    </p:spTree>
    <p:extLst>
      <p:ext uri="{BB962C8B-B14F-4D97-AF65-F5344CB8AC3E}">
        <p14:creationId xmlns:p14="http://schemas.microsoft.com/office/powerpoint/2010/main" val="8222434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66EA5A-64CA-4400-BE28-CB953909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857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3BEAD-31BF-4495-AE36-A234ED93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РЕЗУЛЬТАТ ПОЛНОГО ПРОГОНА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F7A94-8509-4446-941F-38E5346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15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0C1A6-140F-427A-A982-793D931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028950" cy="47625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B965D-C82C-4814-BACD-22821B8F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520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50A8F-16A4-4258-961D-EBE567E0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посадок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7BA99-26DE-4789-97BC-3DA396F7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120 / 400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F0951-C897-44E6-83FE-2180667C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деревья / кустарники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6E8DA-BAFC-4518-A8C6-AECD928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9 454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6A04E-415E-4B9E-9824-A06D5EE2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отклонённых пар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C9A6C-D695-48F9-BC0F-1ADF04AD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0 /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8D173-79FF-4E54-9E2D-830003E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ошибок: нормы / интервалы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C5368-A4BE-46DE-98C6-E154C2C0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352550"/>
            <a:ext cx="7772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0731F-0558-4F2C-8C11-339129AE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00200"/>
            <a:ext cx="708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39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КУДА УШЛИ КАНДИДАТЫ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BEEF4-85F2-4ABA-BA6B-D6E7873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24050"/>
            <a:ext cx="708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Два этапа отбора полного прогона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E21D8-B046-47AF-91C5-13705372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708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1. Статические правила: 20 790 пар «точка + вид»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EC52B-3A13-4741-B4AE-D4E85BFA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387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10E9C-BF87-4060-B2D4-8830F308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86050"/>
            <a:ext cx="3209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377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0C4D6-DC96-4A4E-983D-37C603F8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861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11 336 прошли правила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7906C-46E2-45EB-8B42-92DC7344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9 454 отклонены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8EB8D-FD5E-414F-A2B3-F7B001E4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54,5%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FF12CC-9CEB-403A-8C4A-F885E18A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45,5% · причины в rejections.json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CEF3F-045B-4241-A72B-490D0ED9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52850"/>
            <a:ext cx="708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7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8C9D1-A896-4498-B29E-528CB47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05250"/>
            <a:ext cx="708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2. Layout: 11 336 допустимых пар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0B6A4-E153-4622-A499-D840F6E0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6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22B94B-3C34-45BA-B5F6-F1E46F22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67200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3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509D0-C0DA-4326-9690-D6551197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6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520 выбраны для плана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8E376F-04AF-4DD5-80D9-11B28DB2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672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10 816 не вошли в layout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7F242-04AB-457D-AA80-7B304F5F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53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4,6%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3C6A04-DA98-474D-9E41-30D4D8B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5300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95,4% · причины в layout_omissions.json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7B6738-9360-4C30-8BA5-F04023D8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91150"/>
            <a:ext cx="6553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F0E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C58731-40A1-43A0-AD16-62C9C44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05450"/>
            <a:ext cx="617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Итоговый DXF: 520 проверенных посадок на двух новых слоях</a:t>
            </a:r>
          </a:p>
        </p:txBody>
      </p:sp>
    </p:spTree>
    <p:extLst>
      <p:ext uri="{BB962C8B-B14F-4D97-AF65-F5344CB8AC3E}">
        <p14:creationId xmlns:p14="http://schemas.microsoft.com/office/powerpoint/2010/main" val="200739031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93D9F-1B44-4387-9BC8-26350130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334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F8CDB-EECE-46D6-9BB3-8A9CE5CF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ЗАПУСК И ЖИВАЯ ДЕМОНСТРАЦИЯ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E12FA-2821-4023-AEED-318CCF27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16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C7C61-EF9E-4998-BB02-D55DF2E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49530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E23DF-EB9E-49CB-96C4-7FF1021A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Docker CLI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3BAF9-4367-400E-A738-C492A1B0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4196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310F5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1ACCE-4F3C-49F9-9E7B-96AD3183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docker build -t greencad:latest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docker run --rm -v "$PWD:/work" \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 greencad:latest /work/input.dxf \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 /work/config.json /work/result.dxf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B35C5-1530-4C27-8AE1-BADBBC73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Web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9F87D-2C8A-4ABD-94D1-C54140EB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DXF и готовый GreenCAD ZIP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preflight и запуск pipeline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2D / 2.5D preview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point inspector и скачивание DXF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OpenAPI / Swagger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51772-234D-423A-9F47-15D5FA21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58293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05abeca884e33"/>
          <a:stretch xmlns:a="http://schemas.openxmlformats.org/drawingml/2006/main"/>
        </p:blipFill>
        <p:spPr>
          <a:xfrm xmlns:a="http://schemas.openxmlformats.org/drawingml/2006/main">
            <a:off x="6115050" y="1760032"/>
            <a:ext cx="5219700" cy="293788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B13D9-7D50-4F86-9F1E-36A88C2C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14,6 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10824-019C-4279-8977-CE629C64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web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84E6E-EF70-46A6-B81B-E9422405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1,06 МБ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0D338-6EAD-46A6-9279-617DAD6A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48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result.dxf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1350D-F1EE-4A69-B1F9-692ABB1F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0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0 + 0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2FE88-16F5-4562-849F-D496D8F1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48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validator issues</a:t>
            </a:r>
          </a:p>
        </p:txBody>
      </p:sp>
    </p:spTree>
    <p:extLst>
      <p:ext uri="{BB962C8B-B14F-4D97-AF65-F5344CB8AC3E}">
        <p14:creationId xmlns:p14="http://schemas.microsoft.com/office/powerpoint/2010/main" val="173543789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FDB38-76D8-40EA-AA31-0D283B5A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61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422F0-EB89-411A-AFF0-2614E1E8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ОГРАНИЧЕНИЯ И МАСШТАБИРОВАНИЕ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B1965-9869-43EF-B70F-00B05883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17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A2CE7-AD4D-4B0D-AF6C-C457CEF1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486150" cy="43243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18BC-78EA-42CF-8A88-6E504574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486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E37A2-641B-486D-A260-A6B85E4B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Готово сейчас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7905A-28C1-4026-B453-A0FF6218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6860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DXF → DXF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деревья + кустарники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отдельные слои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объяснения по НПА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Docker + OpenAPI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99E3E-E983-4D1D-82BB-DEA7DCF8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04950"/>
            <a:ext cx="3486150" cy="43243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00C6A-3B5F-4724-9982-B43D56EA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04950"/>
            <a:ext cx="3486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3D1B8-5C4A-4E70-86F5-5DBD239B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Честные ограничения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882D9-477B-489D-A7F0-86182A42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26860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актуальность копии проекта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семантика авторских слоёв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неполные XREF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редакция нормативов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финальное согласование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B9A65-9483-4B85-92B2-79291D1F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486150" cy="43243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93089-7C78-4992-9377-473ED2D6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486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8A83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46013-7648-4F8A-906F-BF5D8A2A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Следующий шаг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3C3D2-2779-48A6-AA3C-0C444E52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6860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подтверждение mapping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новые профили правил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травяные покрытия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интеграция с CAD/GIS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пилотирование в ДПиООС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744DE-59A0-472D-B2EB-08F123E2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388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GreenCAD не угадывает актуальность и смысл исходных данных — он фиксирует их и делает расчёт проверяемым.</a:t>
            </a:r>
          </a:p>
        </p:txBody>
      </p:sp>
    </p:spTree>
    <p:extLst>
      <p:ext uri="{BB962C8B-B14F-4D97-AF65-F5344CB8AC3E}">
        <p14:creationId xmlns:p14="http://schemas.microsoft.com/office/powerpoint/2010/main" val="128629778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ADB17-8229-4009-9759-C24A3EBB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F11C7-3E41-4088-A4CA-1AE6DEC6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ИТОГ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7C4F9-3068-460A-B9B0-DD6061E4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18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08D5A-927F-40F2-A291-C3C7E6E5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C533D-92E4-4763-AF6D-463A1413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98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GreenCAD — рабочий алгоритмический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9CF82-5501-4BF6-9038-44B69F76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03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принимает реальный DXF, создаёт план на новых слоях и объясняет каждую проверку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53B64-BE1B-4CE5-8A7E-BBA780FF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7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385,5 МБ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9BA42-B4EF-4EC8-92C1-19690C54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полный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AFA5A-7A2C-4B3C-B51D-3EAE0F77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7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520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01405-8A02-4389-93CB-05EE69AC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посадок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16A47-A5FC-4AE5-BBCD-970441EA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2775" b="1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0 + 0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40254-B291-4494-BB1F-F9A97C98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ошибок Validator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28A64-1F64-4B21-8EFF-9E367F2F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7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671A0-F070-47E0-A41E-269E95E7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86570"/>
                </a:solidFill>
                <a:latin typeface="Montserrat"/>
                <a:ea typeface="Montserrat"/>
                <a:cs typeface="Montserrat"/>
              </a:rPr>
              <a:t>новых DXF-слоя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41261-A679-4585-8BCD-92CD98F8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7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14A68-C996-4E3A-80CC-4E06E5E1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Команда «Не работаем с утками» · РУДН · Москва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4FDF3-B95E-47B7-B3C6-E980BDB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2E7D5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2E7D5A"/>
                </a:solidFill>
                <a:latin typeface="Montserrat"/>
                <a:ea typeface="Montserrat"/>
                <a:cs typeface="Montserrat"/>
              </a:rPr>
              <a:t>Данько Дмитрий Игоревич · @dankodmitry · ddigorev@gmail.com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E0243-F1E3-4491-A1D3-9DA1BB72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579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9278524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2026-09-28T21:27:20.2270000Z</dcterms:created>
  <dcterms:modified xsi:type="dcterms:W3CDTF">2026-09-28T21:27:20.2270000Z</dcterms:modified>
</coreProperties>
</file>